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6"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4" autoAdjust="0"/>
    <p:restoredTop sz="88697" autoAdjust="0"/>
  </p:normalViewPr>
  <p:slideViewPr>
    <p:cSldViewPr snapToGrid="0" snapToObjects="1">
      <p:cViewPr varScale="1">
        <p:scale>
          <a:sx n="62" d="100"/>
          <a:sy n="62" d="100"/>
        </p:scale>
        <p:origin x="100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FF7CC-5E65-48FD-A60C-710146706DD7}" type="datetimeFigureOut">
              <a:rPr lang="fr-FR" smtClean="0"/>
              <a:t>09/09/2026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B84DF-C7EE-49EB-8F72-885606209F5D}" type="slidenum">
              <a:rPr lang="fr-FR" smtClean="0"/>
              <a:t>‹N°›</a:t>
            </a:fld>
            <a:endParaRPr lang="fr-FR"/>
          </a:p>
        </p:txBody>
      </p:sp>
    </p:spTree>
    <p:extLst>
      <p:ext uri="{BB962C8B-B14F-4D97-AF65-F5344CB8AC3E}">
        <p14:creationId xmlns:p14="http://schemas.microsoft.com/office/powerpoint/2010/main" val="268318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latin typeface="Times New Roman" panose="02020603050405020304" pitchFamily="18" charset="0"/>
                <a:cs typeface="Times New Roman" panose="02020603050405020304" pitchFamily="18" charset="0"/>
              </a:rPr>
              <a:t>L’étude exploite les données BAAC afin d’analyser l’accidentalité routière en France entre 2019 et 2024</a:t>
            </a:r>
          </a:p>
          <a:p>
            <a:r>
              <a:rPr lang="fr-FR" sz="1200" dirty="0">
                <a:latin typeface="Times New Roman" panose="02020603050405020304" pitchFamily="18" charset="0"/>
                <a:cs typeface="Times New Roman" panose="02020603050405020304" pitchFamily="18" charset="0"/>
              </a:rPr>
              <a:t>BAAC : </a:t>
            </a:r>
            <a:r>
              <a:rPr lang="fr-FR" sz="1200" b="0" i="0" kern="1200" dirty="0">
                <a:solidFill>
                  <a:schemeClr val="tx1"/>
                </a:solidFill>
                <a:effectLst/>
                <a:latin typeface="+mn-lt"/>
                <a:ea typeface="+mn-ea"/>
                <a:cs typeface="+mn-cs"/>
              </a:rPr>
              <a:t>Bulletin d’Analyse des Accidents Corporels</a:t>
            </a:r>
            <a:endParaRPr lang="fr-FR" sz="1200" dirty="0">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2</a:t>
            </a:fld>
            <a:endParaRPr lang="fr-FR"/>
          </a:p>
        </p:txBody>
      </p:sp>
    </p:spTree>
    <p:extLst>
      <p:ext uri="{BB962C8B-B14F-4D97-AF65-F5344CB8AC3E}">
        <p14:creationId xmlns:p14="http://schemas.microsoft.com/office/powerpoint/2010/main" val="3074316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ONISR : </a:t>
            </a:r>
            <a:r>
              <a:rPr lang="fr-FR" sz="1200" b="0" i="0" kern="1200" dirty="0">
                <a:solidFill>
                  <a:schemeClr val="tx1"/>
                </a:solidFill>
                <a:effectLst/>
                <a:latin typeface="+mn-lt"/>
                <a:ea typeface="+mn-ea"/>
                <a:cs typeface="+mn-cs"/>
              </a:rPr>
              <a:t>Observatoire national interministériel de la sécurité routière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Après fusion des fichiers Caractéristiques : 327 628 observations sur la période.</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3</a:t>
            </a:fld>
            <a:endParaRPr lang="fr-FR"/>
          </a:p>
        </p:txBody>
      </p:sp>
    </p:spTree>
    <p:extLst>
      <p:ext uri="{BB962C8B-B14F-4D97-AF65-F5344CB8AC3E}">
        <p14:creationId xmlns:p14="http://schemas.microsoft.com/office/powerpoint/2010/main" val="790825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Export d’un jeu de données nettoyé destiné aux analyses et au tableau de bord Power BI.</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4</a:t>
            </a:fld>
            <a:endParaRPr lang="fr-FR"/>
          </a:p>
        </p:txBody>
      </p:sp>
    </p:spTree>
    <p:extLst>
      <p:ext uri="{BB962C8B-B14F-4D97-AF65-F5344CB8AC3E}">
        <p14:creationId xmlns:p14="http://schemas.microsoft.com/office/powerpoint/2010/main" val="4249970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1) 2020 : -18,9 % d’accidents par rapport à 2019.</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2) 2020 marque une rupture nette : -18,9 % d’accidents par rapport à 2019.</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a:t>
            </a:r>
            <a:r>
              <a:rPr lang="fr-FR" sz="1200" dirty="0">
                <a:latin typeface="Times New Roman" panose="02020603050405020304" pitchFamily="18" charset="0"/>
                <a:cs typeface="Times New Roman" panose="02020603050405020304" pitchFamily="18" charset="0"/>
              </a:rPr>
              <a:t>En 2021, le nombre d’accidents rebondit de +18,4 %, puis diminue progressivement jusqu’en 2024.</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4) Les accidents mortels passent de 3 284 en 2019 à 2 616 en 2020, puis atteignent 3 337 en 2022 et 3 226 en 2024.</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5) Les accidents mortels passent de 3 284 en 2019 à 2 616 en 2020, puis atteignent 3 337 en 2022 et 3 226 en 2024.</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6) Depuis 2022, la fréquence des accidents baisse légèrement, mais la mortalité ne suit pas exactement la même trajectoire.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Interprétation des courbes : </a:t>
            </a:r>
            <a:r>
              <a:rPr lang="fr-FR" dirty="0"/>
              <a:t>Entre 2019 et 2024, le nombre total d’accidents et celui des accidents mortels n’évoluent pas toujours de la même manière.</a:t>
            </a:r>
            <a:br>
              <a:rPr lang="fr-FR" dirty="0"/>
            </a:br>
            <a:r>
              <a:rPr lang="fr-FR" dirty="0"/>
              <a:t>Après le rebond de 2021, le nombre d’accidents diminue légèrement à partir de 2022.</a:t>
            </a:r>
            <a:br>
              <a:rPr lang="fr-FR" dirty="0"/>
            </a:br>
            <a:r>
              <a:rPr lang="fr-FR" dirty="0"/>
              <a:t>En revanche, les accidents mortels augmentent en 2022, passant de </a:t>
            </a:r>
            <a:r>
              <a:rPr lang="fr-FR" b="1" dirty="0"/>
              <a:t>3 032 à 3 337 (+10 %)</a:t>
            </a:r>
            <a:r>
              <a:rPr lang="fr-FR" dirty="0"/>
              <a:t>.</a:t>
            </a:r>
            <a:br>
              <a:rPr lang="fr-FR" dirty="0"/>
            </a:br>
            <a:r>
              <a:rPr lang="fr-FR" dirty="0"/>
              <a:t>En 2023, les deux indicateurs diminuent, avec </a:t>
            </a:r>
            <a:r>
              <a:rPr lang="fr-FR" b="1" dirty="0"/>
              <a:t>54 822 accidents et 3 203 accidents mortels</a:t>
            </a:r>
            <a:r>
              <a:rPr lang="fr-FR" dirty="0"/>
              <a:t>.</a:t>
            </a:r>
            <a:br>
              <a:rPr lang="fr-FR" dirty="0"/>
            </a:br>
            <a:r>
              <a:rPr lang="fr-FR" dirty="0"/>
              <a:t>En 2024, les accidents continuent de baisser à </a:t>
            </a:r>
            <a:r>
              <a:rPr lang="fr-FR" b="1" dirty="0"/>
              <a:t>54 402</a:t>
            </a:r>
            <a:r>
              <a:rPr lang="fr-FR" dirty="0"/>
              <a:t>, tandis que les accidents mortels remontent légèrement à </a:t>
            </a:r>
            <a:r>
              <a:rPr lang="fr-FR" b="1" dirty="0"/>
              <a:t>3 226</a:t>
            </a:r>
            <a:r>
              <a:rPr lang="fr-FR" dirty="0"/>
              <a:t>.</a:t>
            </a:r>
            <a:br>
              <a:rPr lang="fr-FR" dirty="0"/>
            </a:br>
            <a:r>
              <a:rPr lang="fr-FR" dirty="0"/>
              <a:t>Cette divergence montre qu’une diminution du nombre d’accidents ne signifie pas nécessairement une diminution de leur gravité.</a:t>
            </a:r>
            <a:br>
              <a:rPr lang="fr-FR" dirty="0"/>
            </a:br>
            <a:r>
              <a:rPr lang="fr-FR" dirty="0"/>
              <a:t>Ainsi, depuis 2022, la fréquence des accidents tend à baisser, mais leur gravité ne diminue pas au même rythme.</a:t>
            </a:r>
            <a:br>
              <a:rPr lang="fr-FR" dirty="0"/>
            </a:br>
            <a:r>
              <a:rPr lang="fr-FR" dirty="0"/>
              <a:t>Ce constat constitue donc un résultat important à mettre en avant dans l’analyse.</a:t>
            </a:r>
            <a:endParaRPr lang="fr-FR" sz="1200" dirty="0">
              <a:latin typeface="Times New Roman" panose="02020603050405020304" pitchFamily="18" charset="0"/>
              <a:cs typeface="Times New Roman" panose="02020603050405020304" pitchFamily="18" charset="0"/>
            </a:endParaRPr>
          </a:p>
          <a:p>
            <a:pPr>
              <a:spcAft>
                <a:spcPts val="1000"/>
              </a:spcAft>
              <a:defRPr sz="1900">
                <a:solidFill>
                  <a:srgbClr val="2C312F"/>
                </a:solidFill>
              </a:defRPr>
            </a:pPr>
            <a:r>
              <a:rPr lang="fr-FR" sz="1200" b="1" dirty="0">
                <a:solidFill>
                  <a:srgbClr val="2C312F"/>
                </a:solidFill>
              </a:rPr>
              <a:t>L’effet de rupture lié à la période COVID-19 : </a:t>
            </a:r>
            <a:r>
              <a:rPr lang="fr-FR" sz="1200" dirty="0"/>
              <a:t>La forte baisse de 2020 coïncide avec les restrictions sanitaires et la diminution exceptionnelle des déplacements.</a:t>
            </a:r>
          </a:p>
          <a:p>
            <a:pPr>
              <a:spcAft>
                <a:spcPts val="1000"/>
              </a:spcAft>
              <a:defRPr sz="1900">
                <a:solidFill>
                  <a:srgbClr val="2C312F"/>
                </a:solidFill>
              </a:defRPr>
            </a:pPr>
            <a:r>
              <a:rPr lang="fr-FR" sz="1200" dirty="0"/>
              <a:t>Le rebond de 2021 accompagne la reprise progressive de la mobilité.</a:t>
            </a:r>
          </a:p>
          <a:p>
            <a:pPr>
              <a:spcAft>
                <a:spcPts val="1000"/>
              </a:spcAft>
              <a:defRPr sz="1900">
                <a:solidFill>
                  <a:srgbClr val="2C312F"/>
                </a:solidFill>
              </a:defRPr>
            </a:pPr>
            <a:r>
              <a:rPr lang="fr-FR" sz="1200" dirty="0"/>
              <a:t>La période COVID doit donc être traitée comme une rupture de contexte dans la série temporelle.</a:t>
            </a:r>
          </a:p>
          <a:p>
            <a:pPr>
              <a:spcAft>
                <a:spcPts val="1000"/>
              </a:spcAft>
              <a:defRPr sz="1900">
                <a:solidFill>
                  <a:srgbClr val="2C312F"/>
                </a:solidFill>
              </a:defRPr>
            </a:pPr>
            <a:r>
              <a:rPr lang="fr-FR" sz="1200" dirty="0"/>
              <a:t>Cette observation montre que le niveau de mobilité constitue un élément essentiel pour interpréter l’évolution de l’accidentalité.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6</a:t>
            </a:fld>
            <a:endParaRPr lang="fr-FR"/>
          </a:p>
        </p:txBody>
      </p:sp>
    </p:spTree>
    <p:extLst>
      <p:ext uri="{BB962C8B-B14F-4D97-AF65-F5344CB8AC3E}">
        <p14:creationId xmlns:p14="http://schemas.microsoft.com/office/powerpoint/2010/main" val="4246932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 </a:t>
            </a:r>
            <a:r>
              <a:rPr lang="fr-FR" sz="1200" dirty="0">
                <a:latin typeface="Times New Roman" panose="02020603050405020304" pitchFamily="18" charset="0"/>
                <a:cs typeface="Times New Roman" panose="02020603050405020304" pitchFamily="18" charset="0"/>
              </a:rPr>
              <a:t>Les voies communales et les routes départementales concentrent l’essentiel du volume d’accidents.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2) </a:t>
            </a:r>
            <a:r>
              <a:rPr lang="fr-FR" sz="1200" dirty="0">
                <a:latin typeface="Times New Roman" panose="02020603050405020304" pitchFamily="18" charset="0"/>
                <a:cs typeface="Times New Roman" panose="02020603050405020304" pitchFamily="18" charset="0"/>
              </a:rPr>
              <a:t>Les routes départementales se distinguent également par un nombre élevé d’accidents mortels.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a:t>
            </a:r>
            <a:r>
              <a:rPr lang="fr-FR" sz="1200" dirty="0">
                <a:latin typeface="Times New Roman" panose="02020603050405020304" pitchFamily="18" charset="0"/>
                <a:cs typeface="Times New Roman" panose="02020603050405020304" pitchFamily="18" charset="0"/>
              </a:rPr>
              <a:t>Les classements par région, département et commune permettent d’identifier les zones concentrant davantage d’accidents.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4) </a:t>
            </a:r>
            <a:r>
              <a:rPr lang="fr-FR" sz="1200" dirty="0">
                <a:latin typeface="Times New Roman" panose="02020603050405020304" pitchFamily="18" charset="0"/>
                <a:cs typeface="Times New Roman" panose="02020603050405020304" pitchFamily="18" charset="0"/>
              </a:rPr>
              <a:t>Ces volumes ne constituent toutefois pas des taux de risque : ils ne tiennent pas compte du trafic ou de la population exposée.</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7</a:t>
            </a:fld>
            <a:endParaRPr lang="fr-FR"/>
          </a:p>
        </p:txBody>
      </p:sp>
    </p:spTree>
    <p:extLst>
      <p:ext uri="{BB962C8B-B14F-4D97-AF65-F5344CB8AC3E}">
        <p14:creationId xmlns:p14="http://schemas.microsoft.com/office/powerpoint/2010/main" val="614146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 </a:t>
            </a:r>
            <a:r>
              <a:rPr lang="fr-FR" sz="1200" dirty="0"/>
              <a:t>Les analyses portent notamment sur la luminosité, les conditions météorologiques, l’état de la chaussée, la vitesse maximale, les intersections et le type de collision.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2) </a:t>
            </a:r>
            <a:r>
              <a:rPr lang="fr-FR" sz="1200" dirty="0"/>
              <a:t>La majorité des accidents survient en conditions météorologiques normales, ce qui reflète aussi une </a:t>
            </a:r>
            <a:r>
              <a:rPr lang="fr-FR" sz="1200" dirty="0">
                <a:latin typeface="Times New Roman" panose="02020603050405020304" pitchFamily="18" charset="0"/>
                <a:cs typeface="Times New Roman" panose="02020603050405020304" pitchFamily="18" charset="0"/>
              </a:rPr>
              <a:t>exposition</a:t>
            </a:r>
            <a:r>
              <a:rPr lang="fr-FR" sz="1200" dirty="0"/>
              <a:t> beaucoup plus fréquente à ces conditions.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a:t>
            </a:r>
            <a:r>
              <a:rPr lang="fr-FR" sz="1200" dirty="0"/>
              <a:t>Les analyses par route, collision et vitesse permettent d’identifier des configurations où la gravité mérite une attention particulière.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Conclusion : </a:t>
            </a:r>
            <a:r>
              <a:rPr lang="fr-FR" sz="1200" dirty="0"/>
              <a:t>Ces résultats mettent en évidence des associations ; ils ne permettent pas d’établir à eux seuls une relation causale.</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8</a:t>
            </a:fld>
            <a:endParaRPr lang="fr-FR"/>
          </a:p>
        </p:txBody>
      </p:sp>
    </p:spTree>
    <p:extLst>
      <p:ext uri="{BB962C8B-B14F-4D97-AF65-F5344CB8AC3E}">
        <p14:creationId xmlns:p14="http://schemas.microsoft.com/office/powerpoint/2010/main" val="3463152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Analyse : Cette matrice de confusion du Random Forest montre que le modèle classe correctement 61 711 accidents non mortels et seulement 73 accidents mortels. Il commet 75 faux positifs, c’est-à-dire des accidents non mortels prédits comme mortels, et surtout 3 667 faux négatifs, correspondant à des accidents mortels non détectés. Le modèle est donc très performant pour identifier les accidents non mortels, mais reste peu efficace pour détecter les accidents mortels. Malgré une bonne précision globale (</a:t>
            </a:r>
            <a:r>
              <a:rPr lang="fr-FR" dirty="0" err="1"/>
              <a:t>accuracy</a:t>
            </a:r>
            <a:r>
              <a:rPr lang="fr-FR" dirty="0"/>
              <a:t> ≈ 94 %), la classe « Mortel » demeure fortement sous-détectée en raison du déséquilibre du jeu de données. Comparé aux modèles précédents, le Random Forest détecte davantage d’accidents mortels, mais l’amélioration reste limitée. Cette figure montre ainsi que l’</a:t>
            </a:r>
            <a:r>
              <a:rPr lang="fr-FR" dirty="0" err="1"/>
              <a:t>accuracy</a:t>
            </a:r>
            <a:r>
              <a:rPr lang="fr-FR" dirty="0"/>
              <a:t> seule ne suffit pas pour évaluer le modèle et qu’il est nécessaire d’améliorer le rappel de la classe « Mortel » par des techniques de rééquilibrage ou d’ajustement du seuil de décision.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 Une </a:t>
            </a:r>
            <a:r>
              <a:rPr lang="fr-FR" b="1" dirty="0"/>
              <a:t>Random Forest</a:t>
            </a:r>
            <a:r>
              <a:rPr lang="fr-FR" dirty="0"/>
              <a:t> est un algorithme de Machine Learning qui combine plusieurs arbres de décision pour réaliser une prédiction plus robuste.</a:t>
            </a:r>
            <a:br>
              <a:rPr lang="fr-FR" dirty="0"/>
            </a:br>
            <a:r>
              <a:rPr lang="fr-FR" dirty="0"/>
              <a:t>Dans ce projet, elle permet d’identifier les variables les plus importantes associées à la gravité des accidents.</a:t>
            </a:r>
            <a:br>
              <a:rPr lang="fr-FR" dirty="0"/>
            </a:br>
            <a:r>
              <a:rPr lang="fr-FR" dirty="0"/>
              <a:t>Elle permet également d’évaluer la capacité du modèle à distinguer les différentes classes d’accidents.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2) Une modélisation Random Forest a été utilisée pour explorer les variables associées à la classe étudiée.</a:t>
            </a:r>
          </a:p>
          <a:p>
            <a:pPr>
              <a:spcAft>
                <a:spcPts val="1000"/>
              </a:spcAft>
              <a:defRPr sz="1700">
                <a:solidFill>
                  <a:srgbClr val="2C312F"/>
                </a:solidFill>
              </a:defRPr>
            </a:pPr>
            <a:r>
              <a:rPr lang="fr-FR" dirty="0"/>
              <a:t> Parmi les variables les plus importantes figurent l’âge moyen (catégorie d’âge), le jour, l’heure, le mois et la vitesse maximale autorisée.</a:t>
            </a:r>
          </a:p>
          <a:p>
            <a:pPr>
              <a:spcAft>
                <a:spcPts val="1000"/>
              </a:spcAft>
              <a:defRPr sz="1700">
                <a:solidFill>
                  <a:srgbClr val="2C312F"/>
                </a:solidFill>
              </a:defRPr>
            </a:pPr>
            <a:r>
              <a:rPr lang="fr-FR" dirty="0"/>
              <a:t>Le modèle obtient une </a:t>
            </a:r>
            <a:r>
              <a:rPr lang="fr-FR" dirty="0" err="1"/>
              <a:t>accuracy</a:t>
            </a:r>
            <a:r>
              <a:rPr lang="fr-FR" dirty="0"/>
              <a:t> globale élevée (~94 %), mais cette performance est fortement influencée par le déséquilibre des classes.</a:t>
            </a:r>
          </a:p>
          <a:p>
            <a:pPr>
              <a:spcAft>
                <a:spcPts val="1000"/>
              </a:spcAft>
              <a:defRPr sz="1700">
                <a:solidFill>
                  <a:srgbClr val="2C312F"/>
                </a:solidFill>
              </a:defRPr>
            </a:pPr>
            <a:r>
              <a:rPr lang="fr-FR" dirty="0"/>
              <a:t>Pour la classe minoritaire, le rappel est très faible (~1 %) : le modèle détecte mal les accidents de cette classe.</a:t>
            </a:r>
          </a:p>
          <a:p>
            <a:pPr>
              <a:spcAft>
                <a:spcPts val="1000"/>
              </a:spcAft>
              <a:defRPr sz="1700">
                <a:solidFill>
                  <a:srgbClr val="2C312F"/>
                </a:solidFill>
              </a:defRPr>
            </a:pPr>
            <a:r>
              <a:rPr lang="fr-FR" dirty="0"/>
              <a:t>Conclusion : l’</a:t>
            </a:r>
            <a:r>
              <a:rPr lang="fr-FR" dirty="0" err="1"/>
              <a:t>accuracy</a:t>
            </a:r>
            <a:r>
              <a:rPr lang="fr-FR" dirty="0"/>
              <a:t> seule est insuffisante ; le rappel, le F1-score et le traitement du déséquilibre des classes doivent être privilégiés.</a:t>
            </a:r>
          </a:p>
          <a:p>
            <a:pPr>
              <a:spcAft>
                <a:spcPts val="1000"/>
              </a:spcAft>
              <a:defRPr sz="1700">
                <a:solidFill>
                  <a:srgbClr val="2C312F"/>
                </a:solidFill>
              </a:defRPr>
            </a:pPr>
            <a:r>
              <a:rPr lang="fr-FR" dirty="0"/>
              <a:t>Interprétation : </a:t>
            </a:r>
            <a:r>
              <a:rPr lang="fr-FR" sz="1700" kern="1200" dirty="0">
                <a:solidFill>
                  <a:srgbClr val="2C312F"/>
                </a:solidFill>
                <a:latin typeface="+mn-lt"/>
                <a:ea typeface="+mn-ea"/>
                <a:cs typeface="+mn-cs"/>
              </a:rPr>
              <a:t>Dans mes données, il y a beaucoup plus d’accidents appartenant à la classe dominante que d’accidents de la classe minoritaire (accidents mortels). Le modèle apprend donc très bien à reconnaître la classe dominante, ce qui explique l’</a:t>
            </a:r>
            <a:r>
              <a:rPr lang="fr-FR" sz="1700" kern="1200" dirty="0" err="1">
                <a:solidFill>
                  <a:srgbClr val="2C312F"/>
                </a:solidFill>
                <a:latin typeface="+mn-lt"/>
                <a:ea typeface="+mn-ea"/>
                <a:cs typeface="+mn-cs"/>
              </a:rPr>
              <a:t>accuracy</a:t>
            </a:r>
            <a:r>
              <a:rPr lang="fr-FR" sz="1700" kern="1200" dirty="0">
                <a:solidFill>
                  <a:srgbClr val="2C312F"/>
                </a:solidFill>
                <a:latin typeface="+mn-lt"/>
                <a:ea typeface="+mn-ea"/>
                <a:cs typeface="+mn-cs"/>
              </a:rPr>
              <a:t> élevée de 94 %. En revanche, il détecte très peu la classe minoritaire, avec seulement 1 % de rappel. Autrement dit, le modèle paraît performant globalement, mais il est mauvais pour identifier les accidents les plus rares.</a:t>
            </a:r>
          </a:p>
          <a:p>
            <a:pPr>
              <a:spcAft>
                <a:spcPts val="1000"/>
              </a:spcAft>
              <a:defRPr sz="1700">
                <a:solidFill>
                  <a:srgbClr val="2C312F"/>
                </a:solidFill>
              </a:defRPr>
            </a:pPr>
            <a:r>
              <a:rPr lang="fr-FR" sz="1700" b="1" kern="1200" dirty="0">
                <a:solidFill>
                  <a:srgbClr val="2C312F"/>
                </a:solidFill>
                <a:latin typeface="+mn-lt"/>
                <a:ea typeface="+mn-ea"/>
                <a:cs typeface="+mn-cs"/>
              </a:rPr>
              <a:t>94 % d’</a:t>
            </a:r>
            <a:r>
              <a:rPr lang="fr-FR" sz="1700" b="1" kern="1200" dirty="0" err="1">
                <a:solidFill>
                  <a:srgbClr val="2C312F"/>
                </a:solidFill>
                <a:latin typeface="+mn-lt"/>
                <a:ea typeface="+mn-ea"/>
                <a:cs typeface="+mn-cs"/>
              </a:rPr>
              <a:t>accuracy</a:t>
            </a:r>
            <a:r>
              <a:rPr lang="fr-FR" sz="1700" b="1" kern="1200" dirty="0">
                <a:solidFill>
                  <a:srgbClr val="2C312F"/>
                </a:solidFill>
                <a:latin typeface="+mn-lt"/>
                <a:ea typeface="+mn-ea"/>
                <a:cs typeface="+mn-cs"/>
              </a:rPr>
              <a:t> ne signifie donc pas que le modèle est réellement performant pour toutes les classes.</a:t>
            </a:r>
            <a:r>
              <a:rPr lang="fr-FR" sz="1700" kern="1200" dirty="0">
                <a:solidFill>
                  <a:srgbClr val="2C312F"/>
                </a:solidFill>
                <a:latin typeface="+mn-lt"/>
                <a:ea typeface="+mn-ea"/>
                <a:cs typeface="+mn-cs"/>
              </a:rPr>
              <a:t> C’est justement pourquoi il faut regarder le </a:t>
            </a:r>
            <a:r>
              <a:rPr lang="fr-FR" sz="1700" b="1" kern="1200" dirty="0">
                <a:solidFill>
                  <a:srgbClr val="2C312F"/>
                </a:solidFill>
                <a:latin typeface="+mn-lt"/>
                <a:ea typeface="+mn-ea"/>
                <a:cs typeface="+mn-cs"/>
              </a:rPr>
              <a:t>rappel et le F1-score</a:t>
            </a:r>
            <a:r>
              <a:rPr lang="fr-FR" sz="1700" kern="1200" dirty="0">
                <a:solidFill>
                  <a:srgbClr val="2C312F"/>
                </a:solidFill>
                <a:latin typeface="+mn-lt"/>
                <a:ea typeface="+mn-ea"/>
                <a:cs typeface="+mn-cs"/>
              </a:rPr>
              <a:t>, et envisager un rééquilibrage des classes.</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9</a:t>
            </a:fld>
            <a:endParaRPr lang="fr-FR"/>
          </a:p>
        </p:txBody>
      </p:sp>
    </p:spTree>
    <p:extLst>
      <p:ext uri="{BB962C8B-B14F-4D97-AF65-F5344CB8AC3E}">
        <p14:creationId xmlns:p14="http://schemas.microsoft.com/office/powerpoint/2010/main" val="510725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Au regard des résultats obtenus, plusieurs recommandations peuvent être formulées afin de contribuer à la réduction du nombre et de la gravité des accidents routiers en France.</a:t>
            </a:r>
          </a:p>
          <a:p>
            <a:r>
              <a:rPr lang="fr-FR" sz="1200" kern="1200" dirty="0">
                <a:solidFill>
                  <a:schemeClr val="tx1"/>
                </a:solidFill>
                <a:effectLst/>
                <a:latin typeface="+mn-lt"/>
                <a:ea typeface="+mn-ea"/>
                <a:cs typeface="+mn-cs"/>
              </a:rPr>
              <a:t>1) Renforcer les contrôles routiers aux périodes les plus accidentogènes, notamment le vendredi, les heures de pointe et les périodes de forte affluence, afin de limiter les comportements à risque (excès de vitesse, alcool, stupéfiants, distraction au volant).</a:t>
            </a:r>
          </a:p>
          <a:p>
            <a:r>
              <a:rPr lang="fr-FR" sz="1200" kern="1200" dirty="0">
                <a:solidFill>
                  <a:schemeClr val="tx1"/>
                </a:solidFill>
                <a:effectLst/>
                <a:latin typeface="+mn-lt"/>
                <a:ea typeface="+mn-ea"/>
                <a:cs typeface="+mn-cs"/>
              </a:rPr>
              <a:t>2) Améliorer la sécurité des routes départementales et des voies communales, qui concentrent la majorité des accidents, par des aménagements adaptés : meilleure signalisation, entretien des chaussées, éclairage, sécurisation des intersections et limitation des points dangereux.</a:t>
            </a:r>
          </a:p>
          <a:p>
            <a:r>
              <a:rPr lang="fr-FR" sz="1200" kern="1200" dirty="0">
                <a:solidFill>
                  <a:schemeClr val="tx1"/>
                </a:solidFill>
                <a:effectLst/>
                <a:latin typeface="+mn-lt"/>
                <a:ea typeface="+mn-ea"/>
                <a:cs typeface="+mn-cs"/>
              </a:rPr>
              <a:t>3) Renforcer les mesures de prévention sur les axes à vitesse élevée, en développant les dispositifs de contrôle de vitesse (radars, contrôles mobiles) et en adaptant les limitations de vitesse dans les zones identifiées comme les plus accidentogènes.</a:t>
            </a:r>
          </a:p>
          <a:p>
            <a:r>
              <a:rPr lang="fr-FR" dirty="0"/>
              <a:t>4) </a:t>
            </a:r>
            <a:r>
              <a:rPr lang="fr-FR" sz="1200" kern="1200" dirty="0">
                <a:solidFill>
                  <a:schemeClr val="tx1"/>
                </a:solidFill>
                <a:effectLst/>
                <a:latin typeface="+mn-lt"/>
                <a:ea typeface="+mn-ea"/>
                <a:cs typeface="+mn-cs"/>
              </a:rPr>
              <a:t>Développer des actions de sensibilisation ciblées auprès des conducteurs de voitures particulières, principal type de véhicule impliqué dans les accidents mortels, afin de promouvoir une conduite plus prudente et responsable.</a:t>
            </a:r>
          </a:p>
          <a:p>
            <a:r>
              <a:rPr lang="fr-FR" sz="1200" kern="1200" dirty="0">
                <a:solidFill>
                  <a:schemeClr val="tx1"/>
                </a:solidFill>
                <a:effectLst/>
                <a:latin typeface="+mn-lt"/>
                <a:ea typeface="+mn-ea"/>
                <a:cs typeface="+mn-cs"/>
              </a:rPr>
              <a:t>5) Mettre en place des campagnes de prévention spécifiques destinées aux hommes, davantage représentés parmi les victimes d'accidents mortels, en insistant sur les risques liés à la vitesse, à l'alcool, à la fatigue et aux comportements dangereux.</a:t>
            </a:r>
          </a:p>
          <a:p>
            <a:r>
              <a:rPr lang="fr-FR" sz="1200" kern="1200" dirty="0">
                <a:solidFill>
                  <a:schemeClr val="tx1"/>
                </a:solidFill>
                <a:effectLst/>
                <a:latin typeface="+mn-lt"/>
                <a:ea typeface="+mn-ea"/>
                <a:cs typeface="+mn-cs"/>
              </a:rPr>
              <a:t>6) Renforcer la protection des usagers les plus vulnérable, notamment les personnes âgées, en améliorant la signalisation, les infrastructures piétonnes et cyclables, ainsi que les dispositifs de sécurité aux abords des zones fréquentées.</a:t>
            </a:r>
          </a:p>
          <a:p>
            <a:r>
              <a:rPr lang="fr-FR" sz="1200" kern="1200" dirty="0">
                <a:solidFill>
                  <a:schemeClr val="tx1"/>
                </a:solidFill>
                <a:effectLst/>
                <a:latin typeface="+mn-lt"/>
                <a:ea typeface="+mn-ea"/>
                <a:cs typeface="+mn-cs"/>
              </a:rPr>
              <a:t>7) Poursuivre les campagnes nationales de sensibilisation à la sécurité routière, en mettant l'accent sur les comportements responsables quelles que soient les conditions météorologiques, puisque la majorité des accidents surviennent par temps normal et sur chaussée sèche.</a:t>
            </a:r>
          </a:p>
          <a:p>
            <a:r>
              <a:rPr lang="fr-FR" sz="1200" kern="1200" dirty="0">
                <a:solidFill>
                  <a:schemeClr val="tx1"/>
                </a:solidFill>
                <a:effectLst/>
                <a:latin typeface="+mn-lt"/>
                <a:ea typeface="+mn-ea"/>
                <a:cs typeface="+mn-cs"/>
              </a:rPr>
              <a:t>8) Exploiter les données et l'intelligence artificielle pour anticiper les zones et périodes à risque, afin d'aider les autorités à cibler les actions de prévention et les contrôles de manière plus efficace.</a:t>
            </a:r>
          </a:p>
          <a:p>
            <a:r>
              <a:rPr lang="fr-FR" sz="1200" kern="1200" dirty="0">
                <a:solidFill>
                  <a:schemeClr val="tx1"/>
                </a:solidFill>
                <a:effectLst/>
                <a:latin typeface="+mn-lt"/>
                <a:ea typeface="+mn-ea"/>
                <a:cs typeface="+mn-cs"/>
              </a:rPr>
              <a:t>9) Améliorer la collecte et la qualité des données d'accidents, notamment sur les circonstances, les comportements des conducteurs et les facteurs environnementaux, afin de développer des modèles prédictifs plus performants.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10) </a:t>
            </a:r>
            <a:r>
              <a:rPr lang="fr-FR" sz="1200" kern="1200" dirty="0">
                <a:solidFill>
                  <a:schemeClr val="tx1"/>
                </a:solidFill>
                <a:effectLst/>
                <a:latin typeface="+mn-lt"/>
                <a:ea typeface="+mn-ea"/>
                <a:cs typeface="+mn-cs"/>
              </a:rPr>
              <a:t>Développer des modèles de prédiction plus robustes, en utilisant des techniques de rééquilibrage des données (SMOTE, pondération des classes), des méthodes d'ensemble et des algorithmes plus avancés (</a:t>
            </a:r>
            <a:r>
              <a:rPr lang="fr-FR" sz="1200" kern="1200" dirty="0" err="1">
                <a:solidFill>
                  <a:schemeClr val="tx1"/>
                </a:solidFill>
                <a:effectLst/>
                <a:latin typeface="+mn-lt"/>
                <a:ea typeface="+mn-ea"/>
                <a:cs typeface="+mn-cs"/>
              </a:rPr>
              <a:t>XGBoost</a:t>
            </a:r>
            <a:r>
              <a:rPr lang="fr-FR" sz="1200" kern="1200" dirty="0">
                <a:solidFill>
                  <a:schemeClr val="tx1"/>
                </a:solidFill>
                <a:effectLst/>
                <a:latin typeface="+mn-lt"/>
                <a:ea typeface="+mn-ea"/>
                <a:cs typeface="+mn-cs"/>
              </a:rPr>
              <a:t>, </a:t>
            </a:r>
            <a:r>
              <a:rPr lang="fr-FR" sz="1200" kern="1200" dirty="0" err="1">
                <a:solidFill>
                  <a:schemeClr val="tx1"/>
                </a:solidFill>
                <a:effectLst/>
                <a:latin typeface="+mn-lt"/>
                <a:ea typeface="+mn-ea"/>
                <a:cs typeface="+mn-cs"/>
              </a:rPr>
              <a:t>LightGBM</a:t>
            </a:r>
            <a:r>
              <a:rPr lang="fr-FR" sz="1200" kern="1200" dirty="0">
                <a:solidFill>
                  <a:schemeClr val="tx1"/>
                </a:solidFill>
                <a:effectLst/>
                <a:latin typeface="+mn-lt"/>
                <a:ea typeface="+mn-ea"/>
                <a:cs typeface="+mn-cs"/>
              </a:rPr>
              <a:t>, </a:t>
            </a:r>
            <a:r>
              <a:rPr lang="fr-FR" sz="1200" kern="1200" dirty="0" err="1">
                <a:solidFill>
                  <a:schemeClr val="tx1"/>
                </a:solidFill>
                <a:effectLst/>
                <a:latin typeface="+mn-lt"/>
                <a:ea typeface="+mn-ea"/>
                <a:cs typeface="+mn-cs"/>
              </a:rPr>
              <a:t>CatBoost</a:t>
            </a:r>
            <a:r>
              <a:rPr lang="fr-FR" sz="1200" kern="1200" dirty="0">
                <a:solidFill>
                  <a:schemeClr val="tx1"/>
                </a:solidFill>
                <a:effectLst/>
                <a:latin typeface="+mn-lt"/>
                <a:ea typeface="+mn-ea"/>
                <a:cs typeface="+mn-cs"/>
              </a:rPr>
              <a:t>), afin d'améliorer la détection des accidents mortels et de renforcer les outils d'aide à la décision pour les acteurs de la sécurité routière.</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10</a:t>
            </a:fld>
            <a:endParaRPr lang="fr-FR"/>
          </a:p>
        </p:txBody>
      </p:sp>
    </p:spTree>
    <p:extLst>
      <p:ext uri="{BB962C8B-B14F-4D97-AF65-F5344CB8AC3E}">
        <p14:creationId xmlns:p14="http://schemas.microsoft.com/office/powerpoint/2010/main" val="3468134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b="1" dirty="0"/>
              <a:t>Qualité des données :</a:t>
            </a:r>
            <a:r>
              <a:rPr lang="fr-FR" dirty="0"/>
              <a:t> présence de valeurs manquantes ou non renseignées et nécessité de recoder certaines variables BAAC.</a:t>
            </a:r>
          </a:p>
          <a:p>
            <a:pPr lvl="0"/>
            <a:r>
              <a:rPr lang="fr-FR" b="1" dirty="0"/>
              <a:t>Période et méthode :</a:t>
            </a:r>
            <a:r>
              <a:rPr lang="fr-FR" dirty="0"/>
              <a:t> période 2019–2024 relativement courte et perturbée par la COVID-19 ; l’analyse reste principalement descriptive et ne permet pas d’établir de causalité.</a:t>
            </a:r>
          </a:p>
          <a:p>
            <a:pPr lvl="0"/>
            <a:r>
              <a:rPr lang="fr-FR" b="1" dirty="0"/>
              <a:t>Mesure du risque limitée :</a:t>
            </a:r>
            <a:r>
              <a:rPr lang="fr-FR" dirty="0"/>
              <a:t> absence de données sur le trafic, les kilomètres parcourus, certains comportements des conducteurs ou l’état des véhicules, ce qui limite l’évaluation du risque réel.</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11</a:t>
            </a:fld>
            <a:endParaRPr lang="fr-FR"/>
          </a:p>
        </p:txBody>
      </p:sp>
    </p:spTree>
    <p:extLst>
      <p:ext uri="{BB962C8B-B14F-4D97-AF65-F5344CB8AC3E}">
        <p14:creationId xmlns:p14="http://schemas.microsoft.com/office/powerpoint/2010/main" val="762335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b="1" dirty="0"/>
              <a:t>1) Évolution de l’accidentalité :</a:t>
            </a:r>
            <a:r>
              <a:rPr lang="fr-FR" dirty="0"/>
              <a:t> forte baisse en 2020 liée au contexte COVID-19, suivie d’un rebond en 2021 puis d’une relative stabilisation entre 2022 et 2024. </a:t>
            </a:r>
          </a:p>
          <a:p>
            <a:pPr lvl="0"/>
            <a:r>
              <a:rPr lang="fr-FR" b="1" dirty="0"/>
              <a:t>2) Concentration des accidents :</a:t>
            </a:r>
            <a:r>
              <a:rPr lang="fr-FR" dirty="0"/>
              <a:t> les accidents sont particulièrement nombreux sur les </a:t>
            </a:r>
            <a:r>
              <a:rPr lang="fr-FR" b="1" dirty="0"/>
              <a:t>voies communales et routes départementales</a:t>
            </a:r>
            <a:r>
              <a:rPr lang="fr-FR" dirty="0"/>
              <a:t>, dans les zones fortement urbanisées et en fin de semaine, avec un </a:t>
            </a:r>
            <a:r>
              <a:rPr lang="fr-FR" b="1" dirty="0"/>
              <a:t>pic le vendredi</a:t>
            </a:r>
            <a:r>
              <a:rPr lang="fr-FR" dirty="0"/>
              <a:t>. </a:t>
            </a:r>
          </a:p>
          <a:p>
            <a:pPr lvl="0"/>
            <a:r>
              <a:rPr lang="fr-FR" b="1" dirty="0"/>
              <a:t>3) Facteurs et profils associés :</a:t>
            </a:r>
            <a:r>
              <a:rPr lang="fr-FR" dirty="0"/>
              <a:t> l’âge, l’heure, le jour, la vitesse maximale et le nombre d’usagers ressortent parmi les variables importantes ; les hommes sont davantage représentés dans les accidents mortels et la gravité tend à être plus élevée avec l’âge. </a:t>
            </a:r>
          </a:p>
          <a:p>
            <a:pPr lvl="0"/>
            <a:r>
              <a:rPr lang="fr-FR" b="1" dirty="0"/>
              <a:t>4) Conditions environnementales :</a:t>
            </a:r>
            <a:r>
              <a:rPr lang="fr-FR" dirty="0"/>
              <a:t> la majorité des accidents survient par </a:t>
            </a:r>
            <a:r>
              <a:rPr lang="fr-FR" b="1" dirty="0"/>
              <a:t>temps normal et sur chaussée sèche</a:t>
            </a:r>
            <a:r>
              <a:rPr lang="fr-FR" dirty="0"/>
              <a:t>, sans que cela signifie que ces conditions soient intrinsèquement plus dangereuses, car elles correspondent aussi aux situations les plus fréquentes. </a:t>
            </a:r>
          </a:p>
          <a:p>
            <a:pPr lvl="0"/>
            <a:r>
              <a:rPr lang="fr-FR" b="1" dirty="0"/>
              <a:t>5) Modélisation et apport du projet :</a:t>
            </a:r>
            <a:r>
              <a:rPr lang="fr-FR" dirty="0"/>
              <a:t> le déséquilibre des classes limite la détection des accidents mortels malgré une </a:t>
            </a:r>
            <a:r>
              <a:rPr lang="fr-FR" dirty="0" err="1"/>
              <a:t>accuracy</a:t>
            </a:r>
            <a:r>
              <a:rPr lang="fr-FR" dirty="0"/>
              <a:t> globale élevée. L’étude permet néanmoins de mieux identifier les </a:t>
            </a:r>
            <a:r>
              <a:rPr lang="fr-FR" b="1" dirty="0"/>
              <a:t>tendances, contextes et facteurs associés aux accidents graves</a:t>
            </a:r>
            <a:r>
              <a:rPr lang="fr-FR" dirty="0"/>
              <a:t>, afin d’orienter les actions de prévention et d’aide à la décision.</a:t>
            </a:r>
          </a:p>
          <a:p>
            <a:endParaRPr lang="fr-FR" dirty="0"/>
          </a:p>
        </p:txBody>
      </p:sp>
      <p:sp>
        <p:nvSpPr>
          <p:cNvPr id="4" name="Espace réservé du numéro de diapositive 3"/>
          <p:cNvSpPr>
            <a:spLocks noGrp="1"/>
          </p:cNvSpPr>
          <p:nvPr>
            <p:ph type="sldNum" sz="quarter" idx="5"/>
          </p:nvPr>
        </p:nvSpPr>
        <p:spPr/>
        <p:txBody>
          <a:bodyPr/>
          <a:lstStyle/>
          <a:p>
            <a:fld id="{14BB84DF-C7EE-49EB-8F72-885606209F5D}" type="slidenum">
              <a:rPr lang="fr-FR" smtClean="0"/>
              <a:t>12</a:t>
            </a:fld>
            <a:endParaRPr lang="fr-FR"/>
          </a:p>
        </p:txBody>
      </p:sp>
    </p:spTree>
    <p:extLst>
      <p:ext uri="{BB962C8B-B14F-4D97-AF65-F5344CB8AC3E}">
        <p14:creationId xmlns:p14="http://schemas.microsoft.com/office/powerpoint/2010/main" val="291430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3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mage 4">
            <a:extLst>
              <a:ext uri="{FF2B5EF4-FFF2-40B4-BE49-F238E27FC236}">
                <a16:creationId xmlns:a16="http://schemas.microsoft.com/office/drawing/2014/main" id="{7536A019-7F31-C584-0BAF-B509549DA0FA}"/>
              </a:ext>
            </a:extLst>
          </p:cNvPr>
          <p:cNvPicPr>
            <a:picLocks noChangeAspect="1"/>
          </p:cNvPicPr>
          <p:nvPr/>
        </p:nvPicPr>
        <p:blipFill>
          <a:blip r:embed="rId2"/>
          <a:stretch>
            <a:fillRect/>
          </a:stretch>
        </p:blipFill>
        <p:spPr>
          <a:xfrm>
            <a:off x="-29487" y="0"/>
            <a:ext cx="12250976"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
            <a:ext cx="12191695" cy="7004304"/>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dirty="0"/>
          </a:p>
        </p:txBody>
      </p:sp>
      <p:sp>
        <p:nvSpPr>
          <p:cNvPr id="3" name="TextBox 2"/>
          <p:cNvSpPr txBox="1"/>
          <p:nvPr/>
        </p:nvSpPr>
        <p:spPr>
          <a:xfrm>
            <a:off x="3577215" y="292608"/>
            <a:ext cx="4732770" cy="492443"/>
          </a:xfrm>
          <a:prstGeom prst="rect">
            <a:avLst/>
          </a:prstGeom>
          <a:noFill/>
        </p:spPr>
        <p:txBody>
          <a:bodyPr wrap="non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1</a:t>
            </a:r>
            <a:r>
              <a:rPr lang="fr-FR" sz="2600" b="1" dirty="0">
                <a:solidFill>
                  <a:schemeClr val="accent1"/>
                </a:solidFill>
                <a:latin typeface="Times New Roman" panose="02020603050405020304" pitchFamily="18" charset="0"/>
                <a:cs typeface="Times New Roman" panose="02020603050405020304" pitchFamily="18" charset="0"/>
              </a:rPr>
              <a:t>/11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Contexte</a:t>
            </a:r>
            <a:r>
              <a:rPr sz="2600" b="1" dirty="0">
                <a:solidFill>
                  <a:schemeClr val="accent1"/>
                </a:solidFill>
                <a:latin typeface="Times New Roman" panose="02020603050405020304" pitchFamily="18" charset="0"/>
                <a:cs typeface="Times New Roman" panose="02020603050405020304" pitchFamily="18" charset="0"/>
              </a:rPr>
              <a:t> et </a:t>
            </a:r>
            <a:r>
              <a:rPr sz="2600" b="1" dirty="0" err="1">
                <a:solidFill>
                  <a:schemeClr val="accent1"/>
                </a:solidFill>
                <a:latin typeface="Times New Roman" panose="02020603050405020304" pitchFamily="18" charset="0"/>
                <a:cs typeface="Times New Roman" panose="02020603050405020304" pitchFamily="18" charset="0"/>
              </a:rPr>
              <a:t>problématique</a:t>
            </a:r>
            <a:endParaRPr sz="2600" b="1" dirty="0">
              <a:solidFill>
                <a:schemeClr val="accent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39761" y="1477294"/>
            <a:ext cx="10561320" cy="4196020"/>
          </a:xfrm>
          <a:prstGeom prst="rect">
            <a:avLst/>
          </a:prstGeom>
          <a:noFill/>
        </p:spPr>
        <p:txBody>
          <a:bodyPr wrap="square">
            <a:spAutoFit/>
          </a:bodyPr>
          <a:lstStyle/>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     </a:t>
            </a:r>
            <a:r>
              <a:rPr sz="2000" dirty="0">
                <a:solidFill>
                  <a:schemeClr val="accent1"/>
                </a:solidFill>
                <a:latin typeface="Times New Roman" panose="02020603050405020304" pitchFamily="18" charset="0"/>
                <a:cs typeface="Times New Roman" panose="02020603050405020304" pitchFamily="18" charset="0"/>
              </a:rPr>
              <a:t>Les accidents </a:t>
            </a:r>
            <a:r>
              <a:rPr sz="2000" dirty="0" err="1">
                <a:solidFill>
                  <a:schemeClr val="accent1"/>
                </a:solidFill>
                <a:latin typeface="Times New Roman" panose="02020603050405020304" pitchFamily="18" charset="0"/>
                <a:cs typeface="Times New Roman" panose="02020603050405020304" pitchFamily="18" charset="0"/>
              </a:rPr>
              <a:t>routiers</a:t>
            </a:r>
            <a:r>
              <a:rPr sz="2000" dirty="0">
                <a:solidFill>
                  <a:schemeClr val="accent1"/>
                </a:solidFill>
                <a:latin typeface="Times New Roman" panose="02020603050405020304" pitchFamily="18" charset="0"/>
                <a:cs typeface="Times New Roman" panose="02020603050405020304" pitchFamily="18" charset="0"/>
              </a:rPr>
              <a:t> constituent un </a:t>
            </a:r>
            <a:r>
              <a:rPr sz="2000" dirty="0" err="1">
                <a:solidFill>
                  <a:schemeClr val="accent1"/>
                </a:solidFill>
                <a:latin typeface="Times New Roman" panose="02020603050405020304" pitchFamily="18" charset="0"/>
                <a:cs typeface="Times New Roman" panose="02020603050405020304" pitchFamily="18" charset="0"/>
              </a:rPr>
              <a:t>enjeu</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majeur</a:t>
            </a:r>
            <a:r>
              <a:rPr sz="2000" dirty="0">
                <a:solidFill>
                  <a:schemeClr val="accent1"/>
                </a:solidFill>
                <a:latin typeface="Times New Roman" panose="02020603050405020304" pitchFamily="18" charset="0"/>
                <a:cs typeface="Times New Roman" panose="02020603050405020304" pitchFamily="18" charset="0"/>
              </a:rPr>
              <a:t> de sécurité publique et de </a:t>
            </a:r>
            <a:r>
              <a:rPr sz="2000" dirty="0" err="1">
                <a:solidFill>
                  <a:schemeClr val="accent1"/>
                </a:solidFill>
                <a:latin typeface="Times New Roman" panose="02020603050405020304" pitchFamily="18" charset="0"/>
                <a:cs typeface="Times New Roman" panose="02020603050405020304" pitchFamily="18" charset="0"/>
              </a:rPr>
              <a:t>prévention</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ctr">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BAAC 2019 et 2024</a:t>
            </a:r>
          </a:p>
          <a:p>
            <a:pPr marL="342900" indent="-342900" algn="just">
              <a:spcAft>
                <a:spcPts val="1000"/>
              </a:spcAft>
              <a:buFont typeface="Wingdings" panose="05000000000000000000" pitchFamily="2" charset="2"/>
              <a:buChar char="ü"/>
              <a:defRPr sz="1800">
                <a:solidFill>
                  <a:srgbClr val="2C312F"/>
                </a:solidFill>
              </a:defRPr>
            </a:pPr>
            <a:r>
              <a:rPr sz="2000" b="1" dirty="0">
                <a:solidFill>
                  <a:schemeClr val="accent1"/>
                </a:solidFill>
                <a:latin typeface="Times New Roman" panose="02020603050405020304" pitchFamily="18" charset="0"/>
                <a:cs typeface="Times New Roman" panose="02020603050405020304" pitchFamily="18" charset="0"/>
              </a:rPr>
              <a:t>Objectif</a:t>
            </a:r>
            <a:r>
              <a:rPr lang="fr-FR" sz="2000" b="1" dirty="0">
                <a:solidFill>
                  <a:schemeClr val="accent1"/>
                </a:solidFill>
                <a:latin typeface="Times New Roman" panose="02020603050405020304" pitchFamily="18" charset="0"/>
                <a:cs typeface="Times New Roman" panose="02020603050405020304" pitchFamily="18" charset="0"/>
              </a:rPr>
              <a:t>s</a:t>
            </a:r>
            <a:r>
              <a:rPr sz="2000" b="1" dirty="0">
                <a:solidFill>
                  <a:schemeClr val="accent1"/>
                </a:solidFill>
                <a:latin typeface="Times New Roman" panose="02020603050405020304" pitchFamily="18" charset="0"/>
                <a:cs typeface="Times New Roman" panose="02020603050405020304" pitchFamily="18" charset="0"/>
              </a:rPr>
              <a:t> </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I</a:t>
            </a:r>
            <a:r>
              <a:rPr sz="2000" dirty="0" err="1">
                <a:solidFill>
                  <a:schemeClr val="accent1"/>
                </a:solidFill>
                <a:latin typeface="Times New Roman" panose="02020603050405020304" pitchFamily="18" charset="0"/>
                <a:cs typeface="Times New Roman" panose="02020603050405020304" pitchFamily="18" charset="0"/>
              </a:rPr>
              <a:t>dentifier</a:t>
            </a:r>
            <a:r>
              <a:rPr sz="2000" dirty="0">
                <a:solidFill>
                  <a:schemeClr val="accent1"/>
                </a:solidFill>
                <a:latin typeface="Times New Roman" panose="02020603050405020304" pitchFamily="18" charset="0"/>
                <a:cs typeface="Times New Roman" panose="02020603050405020304" pitchFamily="18" charset="0"/>
              </a:rPr>
              <a:t> les tendances </a:t>
            </a:r>
            <a:r>
              <a:rPr sz="2000" dirty="0" err="1">
                <a:solidFill>
                  <a:schemeClr val="accent1"/>
                </a:solidFill>
                <a:latin typeface="Times New Roman" panose="02020603050405020304" pitchFamily="18" charset="0"/>
                <a:cs typeface="Times New Roman" panose="02020603050405020304" pitchFamily="18" charset="0"/>
              </a:rPr>
              <a:t>temporelles</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L</a:t>
            </a:r>
            <a:r>
              <a:rPr sz="2000" dirty="0">
                <a:solidFill>
                  <a:schemeClr val="accent1"/>
                </a:solidFill>
                <a:latin typeface="Times New Roman" panose="02020603050405020304" pitchFamily="18" charset="0"/>
                <a:cs typeface="Times New Roman" panose="02020603050405020304" pitchFamily="18" charset="0"/>
              </a:rPr>
              <a:t>es zones à </a:t>
            </a:r>
            <a:r>
              <a:rPr sz="2000" dirty="0" err="1">
                <a:solidFill>
                  <a:schemeClr val="accent1"/>
                </a:solidFill>
                <a:latin typeface="Times New Roman" panose="02020603050405020304" pitchFamily="18" charset="0"/>
                <a:cs typeface="Times New Roman" panose="02020603050405020304" pitchFamily="18" charset="0"/>
              </a:rPr>
              <a:t>risque</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L</a:t>
            </a:r>
            <a:r>
              <a:rPr sz="2000" dirty="0">
                <a:solidFill>
                  <a:schemeClr val="accent1"/>
                </a:solidFill>
                <a:latin typeface="Times New Roman" panose="02020603050405020304" pitchFamily="18" charset="0"/>
                <a:cs typeface="Times New Roman" panose="02020603050405020304" pitchFamily="18" charset="0"/>
              </a:rPr>
              <a:t>es </a:t>
            </a:r>
            <a:r>
              <a:rPr sz="2000" dirty="0" err="1">
                <a:solidFill>
                  <a:schemeClr val="accent1"/>
                </a:solidFill>
                <a:latin typeface="Times New Roman" panose="02020603050405020304" pitchFamily="18" charset="0"/>
                <a:cs typeface="Times New Roman" panose="02020603050405020304" pitchFamily="18" charset="0"/>
              </a:rPr>
              <a:t>circonstances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d’accident</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L</a:t>
            </a:r>
            <a:r>
              <a:rPr sz="2000" dirty="0">
                <a:solidFill>
                  <a:schemeClr val="accent1"/>
                </a:solidFill>
                <a:latin typeface="Times New Roman" panose="02020603050405020304" pitchFamily="18" charset="0"/>
                <a:cs typeface="Times New Roman" panose="02020603050405020304" pitchFamily="18" charset="0"/>
              </a:rPr>
              <a:t>es </a:t>
            </a:r>
            <a:r>
              <a:rPr sz="2000" dirty="0" err="1">
                <a:solidFill>
                  <a:schemeClr val="accent1"/>
                </a:solidFill>
                <a:latin typeface="Times New Roman" panose="02020603050405020304" pitchFamily="18" charset="0"/>
                <a:cs typeface="Times New Roman" panose="02020603050405020304" pitchFamily="18" charset="0"/>
              </a:rPr>
              <a:t>profils</a:t>
            </a:r>
            <a:r>
              <a:rPr sz="2000" dirty="0">
                <a:solidFill>
                  <a:schemeClr val="accent1"/>
                </a:solidFill>
                <a:latin typeface="Times New Roman" panose="02020603050405020304" pitchFamily="18" charset="0"/>
                <a:cs typeface="Times New Roman" panose="02020603050405020304" pitchFamily="18" charset="0"/>
              </a:rPr>
              <a:t> les plus </a:t>
            </a:r>
            <a:r>
              <a:rPr sz="2000" dirty="0" err="1">
                <a:solidFill>
                  <a:schemeClr val="accent1"/>
                </a:solidFill>
                <a:latin typeface="Times New Roman" panose="02020603050405020304" pitchFamily="18" charset="0"/>
                <a:cs typeface="Times New Roman" panose="02020603050405020304" pitchFamily="18" charset="0"/>
              </a:rPr>
              <a:t>représentés</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just">
              <a:spcAft>
                <a:spcPts val="1000"/>
              </a:spcAft>
              <a:buFont typeface="Wingdings" panose="05000000000000000000" pitchFamily="2" charset="2"/>
              <a:buChar char="ü"/>
              <a:defRPr sz="1800">
                <a:solidFill>
                  <a:srgbClr val="2C312F"/>
                </a:solidFill>
              </a:defRPr>
            </a:pPr>
            <a:r>
              <a:rPr sz="2000" b="1" dirty="0" err="1">
                <a:solidFill>
                  <a:schemeClr val="accent1"/>
                </a:solidFill>
                <a:latin typeface="Times New Roman" panose="02020603050405020304" pitchFamily="18" charset="0"/>
                <a:cs typeface="Times New Roman" panose="02020603050405020304" pitchFamily="18" charset="0"/>
              </a:rPr>
              <a:t>Problématique</a:t>
            </a:r>
            <a:r>
              <a:rPr sz="2000" b="1" dirty="0">
                <a:solidFill>
                  <a:schemeClr val="accent1"/>
                </a:solidFill>
                <a:latin typeface="Times New Roman" panose="02020603050405020304" pitchFamily="18" charset="0"/>
                <a:cs typeface="Times New Roman" panose="02020603050405020304" pitchFamily="18" charset="0"/>
              </a:rPr>
              <a:t> </a:t>
            </a:r>
            <a:endParaRPr lang="fr-FR" sz="2000" b="1" dirty="0">
              <a:solidFill>
                <a:schemeClr val="accent1"/>
              </a:solidFill>
              <a:latin typeface="Times New Roman" panose="02020603050405020304" pitchFamily="18" charset="0"/>
              <a:cs typeface="Times New Roman" panose="02020603050405020304" pitchFamily="18" charset="0"/>
            </a:endParaRPr>
          </a:p>
          <a:p>
            <a:pPr algn="just">
              <a:spcAft>
                <a:spcPts val="1000"/>
              </a:spcAft>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C</a:t>
            </a:r>
            <a:r>
              <a:rPr sz="2000" dirty="0" err="1">
                <a:solidFill>
                  <a:schemeClr val="accent1"/>
                </a:solidFill>
                <a:latin typeface="Times New Roman" panose="02020603050405020304" pitchFamily="18" charset="0"/>
                <a:cs typeface="Times New Roman" panose="02020603050405020304" pitchFamily="18" charset="0"/>
              </a:rPr>
              <a:t>omment</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l’analyse</a:t>
            </a:r>
            <a:r>
              <a:rPr sz="2000" dirty="0">
                <a:solidFill>
                  <a:schemeClr val="accent1"/>
                </a:solidFill>
                <a:latin typeface="Times New Roman" panose="02020603050405020304" pitchFamily="18" charset="0"/>
                <a:cs typeface="Times New Roman" panose="02020603050405020304" pitchFamily="18" charset="0"/>
              </a:rPr>
              <a:t> des données </a:t>
            </a:r>
            <a:r>
              <a:rPr sz="2000" dirty="0" err="1">
                <a:solidFill>
                  <a:schemeClr val="accent1"/>
                </a:solidFill>
                <a:latin typeface="Times New Roman" panose="02020603050405020304" pitchFamily="18" charset="0"/>
                <a:cs typeface="Times New Roman" panose="02020603050405020304" pitchFamily="18" charset="0"/>
              </a:rPr>
              <a:t>d’accidents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peut-elle</a:t>
            </a:r>
            <a:r>
              <a:rPr sz="2000" dirty="0">
                <a:solidFill>
                  <a:schemeClr val="accent1"/>
                </a:solidFill>
                <a:latin typeface="Times New Roman" panose="02020603050405020304" pitchFamily="18" charset="0"/>
                <a:cs typeface="Times New Roman" panose="02020603050405020304" pitchFamily="18" charset="0"/>
              </a:rPr>
              <a:t> aider à </a:t>
            </a:r>
            <a:r>
              <a:rPr sz="2000" dirty="0" err="1">
                <a:solidFill>
                  <a:schemeClr val="accent1"/>
                </a:solidFill>
                <a:latin typeface="Times New Roman" panose="02020603050405020304" pitchFamily="18" charset="0"/>
                <a:cs typeface="Times New Roman" panose="02020603050405020304" pitchFamily="18" charset="0"/>
              </a:rPr>
              <a:t>mieux</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cibler</a:t>
            </a:r>
            <a:r>
              <a:rPr sz="2000" dirty="0">
                <a:solidFill>
                  <a:schemeClr val="accent1"/>
                </a:solidFill>
                <a:latin typeface="Times New Roman" panose="02020603050405020304" pitchFamily="18" charset="0"/>
                <a:cs typeface="Times New Roman" panose="02020603050405020304" pitchFamily="18" charset="0"/>
              </a:rPr>
              <a:t> les actions de </a:t>
            </a:r>
            <a:r>
              <a:rPr sz="2000" dirty="0" err="1">
                <a:solidFill>
                  <a:schemeClr val="accent1"/>
                </a:solidFill>
                <a:latin typeface="Times New Roman" panose="02020603050405020304" pitchFamily="18" charset="0"/>
                <a:cs typeface="Times New Roman" panose="02020603050405020304" pitchFamily="18" charset="0"/>
              </a:rPr>
              <a:t>prévention</a:t>
            </a:r>
            <a:r>
              <a:rPr sz="2000" dirty="0">
                <a:solidFill>
                  <a:schemeClr val="accent1"/>
                </a:solidFill>
                <a:latin typeface="Times New Roman" panose="02020603050405020304" pitchFamily="18" charset="0"/>
                <a:cs typeface="Times New Roman" panose="02020603050405020304" pitchFamily="18" charset="0"/>
              </a:rPr>
              <a:t> et de sécurité </a:t>
            </a:r>
            <a:r>
              <a:rPr sz="2000" dirty="0" err="1">
                <a:solidFill>
                  <a:schemeClr val="accent1"/>
                </a:solidFill>
                <a:latin typeface="Times New Roman" panose="02020603050405020304" pitchFamily="18" charset="0"/>
                <a:cs typeface="Times New Roman" panose="02020603050405020304" pitchFamily="18" charset="0"/>
              </a:rPr>
              <a:t>routière</a:t>
            </a:r>
            <a:r>
              <a:rPr sz="2000" dirty="0">
                <a:solidFill>
                  <a:schemeClr val="accent1"/>
                </a:solidFill>
                <a:latin typeface="Times New Roman" panose="02020603050405020304" pitchFamily="18" charset="0"/>
                <a:cs typeface="Times New Roman" panose="02020603050405020304" pitchFamily="18" charset="0"/>
              </a:rPr>
              <a:t> ?</a:t>
            </a: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2</a:t>
            </a:r>
          </a:p>
        </p:txBody>
      </p:sp>
      <p:pic>
        <p:nvPicPr>
          <p:cNvPr id="7" name="Image 6">
            <a:extLst>
              <a:ext uri="{FF2B5EF4-FFF2-40B4-BE49-F238E27FC236}">
                <a16:creationId xmlns:a16="http://schemas.microsoft.com/office/drawing/2014/main" id="{F166FD5E-76B2-823F-DB2F-E3918F53FD89}"/>
              </a:ext>
            </a:extLst>
          </p:cNvPr>
          <p:cNvPicPr>
            <a:picLocks noChangeAspect="1"/>
          </p:cNvPicPr>
          <p:nvPr/>
        </p:nvPicPr>
        <p:blipFill>
          <a:blip r:embed="rId3"/>
          <a:stretch>
            <a:fillRect/>
          </a:stretch>
        </p:blipFill>
        <p:spPr>
          <a:xfrm>
            <a:off x="0" y="-73152"/>
            <a:ext cx="12191695" cy="70043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447" y="292608"/>
            <a:ext cx="11071276" cy="492443"/>
          </a:xfrm>
          <a:prstGeom prst="rect">
            <a:avLst/>
          </a:prstGeom>
          <a:noFill/>
        </p:spPr>
        <p:txBody>
          <a:bodyPr wrap="squar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2</a:t>
            </a:r>
            <a:r>
              <a:rPr lang="fr-FR" sz="2600" b="1" dirty="0">
                <a:solidFill>
                  <a:schemeClr val="accent1"/>
                </a:solidFill>
                <a:latin typeface="Times New Roman" panose="02020603050405020304" pitchFamily="18" charset="0"/>
                <a:cs typeface="Times New Roman" panose="02020603050405020304" pitchFamily="18" charset="0"/>
              </a:rPr>
              <a:t>/11</a:t>
            </a:r>
            <a:r>
              <a:rPr sz="2600" b="1" dirty="0">
                <a:solidFill>
                  <a:schemeClr val="accent1"/>
                </a:solidFill>
                <a:latin typeface="Times New Roman" panose="02020603050405020304" pitchFamily="18" charset="0"/>
                <a:cs typeface="Times New Roman" panose="02020603050405020304" pitchFamily="18" charset="0"/>
              </a:rPr>
              <a:t>. Données et </a:t>
            </a:r>
            <a:r>
              <a:rPr sz="2600" b="1" dirty="0" err="1">
                <a:solidFill>
                  <a:schemeClr val="accent1"/>
                </a:solidFill>
                <a:latin typeface="Times New Roman" panose="02020603050405020304" pitchFamily="18" charset="0"/>
                <a:cs typeface="Times New Roman" panose="02020603050405020304" pitchFamily="18" charset="0"/>
              </a:rPr>
              <a:t>périmètre</a:t>
            </a:r>
            <a:r>
              <a:rPr sz="2600" b="1" dirty="0">
                <a:solidFill>
                  <a:schemeClr val="accent1"/>
                </a:solidFill>
                <a:latin typeface="Times New Roman" panose="02020603050405020304" pitchFamily="18" charset="0"/>
                <a:cs typeface="Times New Roman" panose="02020603050405020304" pitchFamily="18" charset="0"/>
              </a:rPr>
              <a:t> de </a:t>
            </a:r>
            <a:r>
              <a:rPr sz="2600" b="1" dirty="0" err="1">
                <a:solidFill>
                  <a:schemeClr val="accent1"/>
                </a:solidFill>
                <a:latin typeface="Times New Roman" panose="02020603050405020304" pitchFamily="18" charset="0"/>
                <a:cs typeface="Times New Roman" panose="02020603050405020304" pitchFamily="18" charset="0"/>
              </a:rPr>
              <a:t>l’étude</a:t>
            </a:r>
            <a:endParaRPr sz="2600" b="1" dirty="0">
              <a:solidFill>
                <a:schemeClr val="accent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83428" y="1421225"/>
            <a:ext cx="10561320" cy="4324261"/>
          </a:xfrm>
          <a:prstGeom prst="rect">
            <a:avLst/>
          </a:prstGeom>
          <a:noFill/>
        </p:spPr>
        <p:txBody>
          <a:bodyPr wrap="square">
            <a:spAutoFit/>
          </a:bodyPr>
          <a:lstStyle/>
          <a:p>
            <a:pPr marL="342900" indent="-342900" algn="just">
              <a:spcAft>
                <a:spcPts val="1000"/>
              </a:spcAft>
              <a:buFont typeface="Wingdings" panose="05000000000000000000" pitchFamily="2" charset="2"/>
              <a:buChar char="ü"/>
              <a:defRPr sz="1800">
                <a:solidFill>
                  <a:srgbClr val="2C312F"/>
                </a:solidFill>
              </a:defRPr>
            </a:pPr>
            <a:r>
              <a:rPr sz="2000" dirty="0">
                <a:latin typeface="Times New Roman" panose="02020603050405020304" pitchFamily="18" charset="0"/>
                <a:cs typeface="Times New Roman" panose="02020603050405020304" pitchFamily="18" charset="0"/>
              </a:rPr>
              <a:t>So</a:t>
            </a:r>
            <a:r>
              <a:rPr sz="2000" dirty="0">
                <a:solidFill>
                  <a:schemeClr val="accent1"/>
                </a:solidFill>
                <a:latin typeface="Times New Roman" panose="02020603050405020304" pitchFamily="18" charset="0"/>
                <a:cs typeface="Times New Roman" panose="02020603050405020304" pitchFamily="18" charset="0"/>
              </a:rPr>
              <a:t>urce : bases BAAC de </a:t>
            </a:r>
            <a:r>
              <a:rPr sz="2000" dirty="0" err="1">
                <a:solidFill>
                  <a:schemeClr val="accent1"/>
                </a:solidFill>
                <a:latin typeface="Times New Roman" panose="02020603050405020304" pitchFamily="18" charset="0"/>
                <a:cs typeface="Times New Roman" panose="02020603050405020304" pitchFamily="18" charset="0"/>
              </a:rPr>
              <a:t>l’ONISR</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période</a:t>
            </a:r>
            <a:r>
              <a:rPr sz="2000" dirty="0">
                <a:solidFill>
                  <a:schemeClr val="accent1"/>
                </a:solidFill>
                <a:latin typeface="Times New Roman" panose="02020603050405020304" pitchFamily="18" charset="0"/>
                <a:cs typeface="Times New Roman" panose="02020603050405020304" pitchFamily="18" charset="0"/>
              </a:rPr>
              <a:t> 2019–2024.</a:t>
            </a:r>
          </a:p>
          <a:p>
            <a:pPr marL="342900" indent="-342900" algn="just">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Tables </a:t>
            </a:r>
            <a:r>
              <a:rPr sz="2000" dirty="0" err="1">
                <a:solidFill>
                  <a:schemeClr val="accent1"/>
                </a:solidFill>
                <a:latin typeface="Times New Roman" panose="02020603050405020304" pitchFamily="18" charset="0"/>
                <a:cs typeface="Times New Roman" panose="02020603050405020304" pitchFamily="18" charset="0"/>
              </a:rPr>
              <a:t>exploitées</a:t>
            </a:r>
            <a:r>
              <a:rPr sz="2000" dirty="0">
                <a:solidFill>
                  <a:schemeClr val="accent1"/>
                </a:solidFill>
                <a:latin typeface="Times New Roman" panose="02020603050405020304" pitchFamily="18" charset="0"/>
                <a:cs typeface="Times New Roman" panose="02020603050405020304" pitchFamily="18" charset="0"/>
              </a:rPr>
              <a:t> :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Caractéristiques</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Lieux,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Véhicules</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Usagers</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just">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327 628 observations</a:t>
            </a:r>
          </a:p>
          <a:p>
            <a:pPr marL="342900" indent="-342900" algn="just">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Variables </a:t>
            </a:r>
            <a:r>
              <a:rPr sz="2000" dirty="0" err="1">
                <a:solidFill>
                  <a:schemeClr val="accent1"/>
                </a:solidFill>
                <a:latin typeface="Times New Roman" panose="02020603050405020304" pitchFamily="18" charset="0"/>
                <a:cs typeface="Times New Roman" panose="02020603050405020304" pitchFamily="18" charset="0"/>
              </a:rPr>
              <a:t>étudiées</a:t>
            </a:r>
            <a:r>
              <a:rPr sz="2000" dirty="0">
                <a:solidFill>
                  <a:schemeClr val="accent1"/>
                </a:solidFill>
                <a:latin typeface="Times New Roman" panose="02020603050405020304" pitchFamily="18" charset="0"/>
                <a:cs typeface="Times New Roman" panose="02020603050405020304" pitchFamily="18" charset="0"/>
              </a:rPr>
              <a:t> : </a:t>
            </a:r>
            <a:endParaRPr lang="fr-FR" sz="2000" dirty="0">
              <a:solidFill>
                <a:schemeClr val="accent1"/>
              </a:solidFill>
              <a:latin typeface="Times New Roman" panose="02020603050405020304" pitchFamily="18" charset="0"/>
              <a:cs typeface="Times New Roman" panose="02020603050405020304" pitchFamily="18" charset="0"/>
            </a:endParaRPr>
          </a:p>
          <a:p>
            <a:pPr algn="just">
              <a:spcAft>
                <a:spcPts val="1000"/>
              </a:spcAft>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date et </a:t>
            </a:r>
            <a:r>
              <a:rPr sz="2000" dirty="0" err="1">
                <a:solidFill>
                  <a:schemeClr val="accent1"/>
                </a:solidFill>
                <a:latin typeface="Times New Roman" panose="02020603050405020304" pitchFamily="18" charset="0"/>
                <a:cs typeface="Times New Roman" panose="02020603050405020304" pitchFamily="18" charset="0"/>
              </a:rPr>
              <a:t>heure</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localisation</a:t>
            </a:r>
            <a:r>
              <a:rPr sz="2000" dirty="0">
                <a:solidFill>
                  <a:schemeClr val="accent1"/>
                </a:solidFill>
                <a:latin typeface="Times New Roman" panose="02020603050405020304" pitchFamily="18" charset="0"/>
                <a:cs typeface="Times New Roman" panose="02020603050405020304" pitchFamily="18" charset="0"/>
              </a:rPr>
              <a:t>, route, </a:t>
            </a:r>
            <a:r>
              <a:rPr sz="2000" dirty="0" err="1">
                <a:solidFill>
                  <a:schemeClr val="accent1"/>
                </a:solidFill>
                <a:latin typeface="Times New Roman" panose="02020603050405020304" pitchFamily="18" charset="0"/>
                <a:cs typeface="Times New Roman" panose="02020603050405020304" pitchFamily="18" charset="0"/>
              </a:rPr>
              <a:t>météo</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luminosité</a:t>
            </a:r>
            <a:r>
              <a:rPr sz="2000" dirty="0">
                <a:solidFill>
                  <a:schemeClr val="accent1"/>
                </a:solidFill>
                <a:latin typeface="Times New Roman" panose="02020603050405020304" pitchFamily="18" charset="0"/>
                <a:cs typeface="Times New Roman" panose="02020603050405020304" pitchFamily="18" charset="0"/>
              </a:rPr>
              <a:t>, collision, </a:t>
            </a:r>
            <a:r>
              <a:rPr sz="2000" dirty="0" err="1">
                <a:solidFill>
                  <a:schemeClr val="accent1"/>
                </a:solidFill>
                <a:latin typeface="Times New Roman" panose="02020603050405020304" pitchFamily="18" charset="0"/>
                <a:cs typeface="Times New Roman" panose="02020603050405020304" pitchFamily="18" charset="0"/>
              </a:rPr>
              <a:t>véhicules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usagers</a:t>
            </a:r>
            <a:r>
              <a:rPr sz="2000" dirty="0">
                <a:solidFill>
                  <a:schemeClr val="accent1"/>
                </a:solidFill>
                <a:latin typeface="Times New Roman" panose="02020603050405020304" pitchFamily="18" charset="0"/>
                <a:cs typeface="Times New Roman" panose="02020603050405020304" pitchFamily="18" charset="0"/>
              </a:rPr>
              <a:t> et </a:t>
            </a:r>
            <a:r>
              <a:rPr sz="2000" dirty="0" err="1">
                <a:solidFill>
                  <a:schemeClr val="accent1"/>
                </a:solidFill>
                <a:latin typeface="Times New Roman" panose="02020603050405020304" pitchFamily="18" charset="0"/>
                <a:cs typeface="Times New Roman" panose="02020603050405020304" pitchFamily="18" charset="0"/>
              </a:rPr>
              <a:t>gravité</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just">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Les codes BAAC </a:t>
            </a:r>
            <a:r>
              <a:rPr sz="2000" dirty="0" err="1">
                <a:solidFill>
                  <a:schemeClr val="accent1"/>
                </a:solidFill>
                <a:latin typeface="Times New Roman" panose="02020603050405020304" pitchFamily="18" charset="0"/>
                <a:cs typeface="Times New Roman" panose="02020603050405020304" pitchFamily="18" charset="0"/>
              </a:rPr>
              <a:t>ont</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été</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recodés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en</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libellés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afin</a:t>
            </a:r>
            <a:r>
              <a:rPr sz="2000" dirty="0">
                <a:solidFill>
                  <a:schemeClr val="accent1"/>
                </a:solidFill>
                <a:latin typeface="Times New Roman" panose="02020603050405020304" pitchFamily="18" charset="0"/>
                <a:cs typeface="Times New Roman" panose="02020603050405020304" pitchFamily="18" charset="0"/>
              </a:rPr>
              <a:t> de </a:t>
            </a:r>
            <a:r>
              <a:rPr sz="2000" dirty="0" err="1">
                <a:solidFill>
                  <a:schemeClr val="accent1"/>
                </a:solidFill>
                <a:latin typeface="Times New Roman" panose="02020603050405020304" pitchFamily="18" charset="0"/>
                <a:cs typeface="Times New Roman" panose="02020603050405020304" pitchFamily="18" charset="0"/>
              </a:rPr>
              <a:t>faciliter</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l’analyse</a:t>
            </a:r>
            <a:r>
              <a:rPr sz="2000" dirty="0">
                <a:solidFill>
                  <a:schemeClr val="accent1"/>
                </a:solidFill>
                <a:latin typeface="Times New Roman" panose="02020603050405020304" pitchFamily="18" charset="0"/>
                <a:cs typeface="Times New Roman" panose="02020603050405020304" pitchFamily="18" charset="0"/>
              </a:rPr>
              <a:t> et la lecture dans Power BI</a:t>
            </a:r>
            <a:r>
              <a:rPr sz="2000" dirty="0">
                <a:latin typeface="Times New Roman" panose="02020603050405020304" pitchFamily="18" charset="0"/>
                <a:cs typeface="Times New Roman" panose="02020603050405020304" pitchFamily="18" charset="0"/>
              </a:rPr>
              <a:t>.</a:t>
            </a: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3</a:t>
            </a:r>
          </a:p>
        </p:txBody>
      </p:sp>
      <p:pic>
        <p:nvPicPr>
          <p:cNvPr id="7" name="Image 6">
            <a:extLst>
              <a:ext uri="{FF2B5EF4-FFF2-40B4-BE49-F238E27FC236}">
                <a16:creationId xmlns:a16="http://schemas.microsoft.com/office/drawing/2014/main" id="{7D2B5A8C-C86B-6489-2194-0A9A85AFA058}"/>
              </a:ext>
            </a:extLst>
          </p:cNvPr>
          <p:cNvPicPr>
            <a:picLocks noChangeAspect="1"/>
          </p:cNvPicPr>
          <p:nvPr/>
        </p:nvPicPr>
        <p:blipFill>
          <a:blip r:embed="rId3"/>
          <a:stretch>
            <a:fillRect/>
          </a:stretch>
        </p:blipFill>
        <p:spPr>
          <a:xfrm>
            <a:off x="1" y="0"/>
            <a:ext cx="12191694"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09446" y="320040"/>
            <a:ext cx="10820553" cy="492443"/>
          </a:xfrm>
          <a:prstGeom prst="rect">
            <a:avLst/>
          </a:prstGeom>
          <a:noFill/>
        </p:spPr>
        <p:txBody>
          <a:bodyPr wrap="squar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3</a:t>
            </a:r>
            <a:r>
              <a:rPr lang="fr-FR" sz="2600" b="1" dirty="0">
                <a:solidFill>
                  <a:schemeClr val="accent1"/>
                </a:solidFill>
                <a:latin typeface="Times New Roman" panose="02020603050405020304" pitchFamily="18" charset="0"/>
                <a:cs typeface="Times New Roman" panose="02020603050405020304" pitchFamily="18" charset="0"/>
              </a:rPr>
              <a:t>/11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Nettoyage</a:t>
            </a:r>
            <a:r>
              <a:rPr sz="2600" b="1" dirty="0">
                <a:solidFill>
                  <a:schemeClr val="accent1"/>
                </a:solidFill>
                <a:latin typeface="Times New Roman" panose="02020603050405020304" pitchFamily="18" charset="0"/>
                <a:cs typeface="Times New Roman" panose="02020603050405020304" pitchFamily="18" charset="0"/>
              </a:rPr>
              <a:t> et </a:t>
            </a:r>
            <a:r>
              <a:rPr sz="2600" b="1" dirty="0" err="1">
                <a:solidFill>
                  <a:schemeClr val="accent1"/>
                </a:solidFill>
                <a:latin typeface="Times New Roman" panose="02020603050405020304" pitchFamily="18" charset="0"/>
                <a:cs typeface="Times New Roman" panose="02020603050405020304" pitchFamily="18" charset="0"/>
              </a:rPr>
              <a:t>préparation</a:t>
            </a:r>
            <a:r>
              <a:rPr sz="2600" b="1" dirty="0">
                <a:solidFill>
                  <a:schemeClr val="accent1"/>
                </a:solidFill>
                <a:latin typeface="Times New Roman" panose="02020603050405020304" pitchFamily="18" charset="0"/>
                <a:cs typeface="Times New Roman" panose="02020603050405020304" pitchFamily="18" charset="0"/>
              </a:rPr>
              <a:t> des données</a:t>
            </a:r>
          </a:p>
        </p:txBody>
      </p:sp>
      <p:sp>
        <p:nvSpPr>
          <p:cNvPr id="4" name="TextBox 3"/>
          <p:cNvSpPr txBox="1"/>
          <p:nvPr/>
        </p:nvSpPr>
        <p:spPr>
          <a:xfrm>
            <a:off x="815340" y="1250510"/>
            <a:ext cx="10561320" cy="5504071"/>
          </a:xfrm>
          <a:prstGeom prst="rect">
            <a:avLst/>
          </a:prstGeom>
          <a:noFill/>
        </p:spPr>
        <p:txBody>
          <a:bodyPr wrap="square">
            <a:spAutoFit/>
          </a:bodyPr>
          <a:lstStyle/>
          <a:p>
            <a:pPr marL="342900" indent="-342900" algn="just">
              <a:spcAft>
                <a:spcPts val="1000"/>
              </a:spcAft>
              <a:buFont typeface="Wingdings" panose="05000000000000000000" pitchFamily="2" charset="2"/>
              <a:buChar char="ü"/>
              <a:defRPr sz="18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Importation et fusion des </a:t>
            </a:r>
            <a:r>
              <a:rPr sz="2000" dirty="0" err="1">
                <a:solidFill>
                  <a:schemeClr val="accent1"/>
                </a:solidFill>
                <a:latin typeface="Times New Roman" panose="02020603050405020304" pitchFamily="18" charset="0"/>
                <a:cs typeface="Times New Roman" panose="02020603050405020304" pitchFamily="18" charset="0"/>
              </a:rPr>
              <a:t>fichiers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annuels</a:t>
            </a:r>
            <a:r>
              <a:rPr sz="2000" dirty="0">
                <a:solidFill>
                  <a:schemeClr val="accent1"/>
                </a:solidFill>
                <a:latin typeface="Times New Roman" panose="02020603050405020304" pitchFamily="18" charset="0"/>
                <a:cs typeface="Times New Roman" panose="02020603050405020304" pitchFamily="18" charset="0"/>
              </a:rPr>
              <a:t> avec Python.</a:t>
            </a:r>
          </a:p>
          <a:p>
            <a:pPr marL="342900" indent="-342900" algn="just">
              <a:spcAft>
                <a:spcPts val="1000"/>
              </a:spcAft>
              <a:buFont typeface="Wingdings" panose="05000000000000000000" pitchFamily="2" charset="2"/>
              <a:buChar char="ü"/>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Contrôle</a:t>
            </a:r>
            <a:r>
              <a:rPr sz="2000" dirty="0">
                <a:solidFill>
                  <a:schemeClr val="accent1"/>
                </a:solidFill>
                <a:latin typeface="Times New Roman" panose="02020603050405020304" pitchFamily="18" charset="0"/>
                <a:cs typeface="Times New Roman" panose="02020603050405020304" pitchFamily="18" charset="0"/>
              </a:rPr>
              <a:t> des </a:t>
            </a:r>
            <a:r>
              <a:rPr sz="2000" dirty="0" err="1">
                <a:solidFill>
                  <a:schemeClr val="accent1"/>
                </a:solidFill>
                <a:latin typeface="Times New Roman" panose="02020603050405020304" pitchFamily="18" charset="0"/>
                <a:cs typeface="Times New Roman" panose="02020603050405020304" pitchFamily="18" charset="0"/>
              </a:rPr>
              <a:t>doublons</a:t>
            </a:r>
            <a:r>
              <a:rPr sz="2000" dirty="0">
                <a:solidFill>
                  <a:schemeClr val="accent1"/>
                </a:solidFill>
                <a:latin typeface="Times New Roman" panose="02020603050405020304" pitchFamily="18" charset="0"/>
                <a:cs typeface="Times New Roman" panose="02020603050405020304" pitchFamily="18" charset="0"/>
              </a:rPr>
              <a:t>, </a:t>
            </a:r>
            <a:r>
              <a:rPr lang="fr-FR" sz="2000" dirty="0">
                <a:solidFill>
                  <a:schemeClr val="accent1"/>
                </a:solidFill>
                <a:latin typeface="Times New Roman" panose="02020603050405020304" pitchFamily="18" charset="0"/>
                <a:cs typeface="Times New Roman" panose="02020603050405020304" pitchFamily="18" charset="0"/>
              </a:rPr>
              <a:t>v</a:t>
            </a:r>
            <a:r>
              <a:rPr sz="2000" dirty="0" err="1">
                <a:solidFill>
                  <a:schemeClr val="accent1"/>
                </a:solidFill>
                <a:latin typeface="Times New Roman" panose="02020603050405020304" pitchFamily="18" charset="0"/>
                <a:cs typeface="Times New Roman" panose="02020603050405020304" pitchFamily="18" charset="0"/>
              </a:rPr>
              <a:t>aleurs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manquantes</a:t>
            </a:r>
            <a:r>
              <a:rPr sz="2000" dirty="0">
                <a:solidFill>
                  <a:schemeClr val="accent1"/>
                </a:solidFill>
                <a:latin typeface="Times New Roman" panose="02020603050405020304" pitchFamily="18" charset="0"/>
                <a:cs typeface="Times New Roman" panose="02020603050405020304" pitchFamily="18" charset="0"/>
              </a:rPr>
              <a:t>, </a:t>
            </a:r>
            <a:r>
              <a:rPr lang="fr-FR" sz="2000" dirty="0">
                <a:solidFill>
                  <a:schemeClr val="accent1"/>
                </a:solidFill>
                <a:latin typeface="Times New Roman" panose="02020603050405020304" pitchFamily="18" charset="0"/>
                <a:cs typeface="Times New Roman" panose="02020603050405020304" pitchFamily="18" charset="0"/>
              </a:rPr>
              <a:t>t</a:t>
            </a:r>
            <a:r>
              <a:rPr sz="2000" dirty="0" err="1">
                <a:solidFill>
                  <a:schemeClr val="accent1"/>
                </a:solidFill>
                <a:latin typeface="Times New Roman" panose="02020603050405020304" pitchFamily="18" charset="0"/>
                <a:cs typeface="Times New Roman" panose="02020603050405020304" pitchFamily="18" charset="0"/>
              </a:rPr>
              <a:t>ypes</a:t>
            </a:r>
            <a:r>
              <a:rPr sz="2000" dirty="0">
                <a:solidFill>
                  <a:schemeClr val="accent1"/>
                </a:solidFill>
                <a:latin typeface="Times New Roman" panose="02020603050405020304" pitchFamily="18" charset="0"/>
                <a:cs typeface="Times New Roman" panose="02020603050405020304" pitchFamily="18" charset="0"/>
              </a:rPr>
              <a:t> de données </a:t>
            </a:r>
            <a:r>
              <a:rPr lang="fr-FR" sz="2000" dirty="0">
                <a:solidFill>
                  <a:schemeClr val="accent1"/>
                </a:solidFill>
                <a:latin typeface="Times New Roman" panose="02020603050405020304" pitchFamily="18" charset="0"/>
                <a:cs typeface="Times New Roman" panose="02020603050405020304" pitchFamily="18" charset="0"/>
              </a:rPr>
              <a:t>e</a:t>
            </a:r>
            <a:r>
              <a:rPr sz="2000" dirty="0">
                <a:solidFill>
                  <a:schemeClr val="accent1"/>
                </a:solidFill>
                <a:latin typeface="Times New Roman" panose="02020603050405020304" pitchFamily="18" charset="0"/>
                <a:cs typeface="Times New Roman" panose="02020603050405020304" pitchFamily="18" charset="0"/>
              </a:rPr>
              <a:t>t </a:t>
            </a:r>
            <a:r>
              <a:rPr sz="2000" dirty="0" err="1">
                <a:solidFill>
                  <a:schemeClr val="accent1"/>
                </a:solidFill>
                <a:latin typeface="Times New Roman" panose="02020603050405020304" pitchFamily="18" charset="0"/>
                <a:cs typeface="Times New Roman" panose="02020603050405020304" pitchFamily="18" charset="0"/>
              </a:rPr>
              <a:t>incohérences</a:t>
            </a:r>
            <a:r>
              <a:rPr lang="fr-FR" sz="2000" dirty="0">
                <a:solidFill>
                  <a:schemeClr val="accent1"/>
                </a:solidFill>
                <a:latin typeface="Times New Roman" panose="02020603050405020304" pitchFamily="18" charset="0"/>
                <a:cs typeface="Times New Roman" panose="02020603050405020304" pitchFamily="18" charset="0"/>
              </a:rPr>
              <a:t> etc.</a:t>
            </a:r>
            <a:endParaRP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Wingdings" panose="05000000000000000000" pitchFamily="2" charset="2"/>
              <a:buChar char="ü"/>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Harmonisation</a:t>
            </a:r>
            <a:r>
              <a:rPr sz="2000" dirty="0">
                <a:solidFill>
                  <a:schemeClr val="accent1"/>
                </a:solidFill>
                <a:latin typeface="Times New Roman" panose="02020603050405020304" pitchFamily="18" charset="0"/>
                <a:cs typeface="Times New Roman" panose="02020603050405020304" pitchFamily="18" charset="0"/>
              </a:rPr>
              <a:t> des </a:t>
            </a:r>
            <a:r>
              <a:rPr sz="2000" dirty="0" err="1">
                <a:solidFill>
                  <a:schemeClr val="accent1"/>
                </a:solidFill>
                <a:latin typeface="Times New Roman" panose="02020603050405020304" pitchFamily="18" charset="0"/>
                <a:cs typeface="Times New Roman" panose="02020603050405020304" pitchFamily="18" charset="0"/>
              </a:rPr>
              <a:t>colonnes</a:t>
            </a:r>
            <a:r>
              <a:rPr sz="2000" dirty="0">
                <a:solidFill>
                  <a:schemeClr val="accent1"/>
                </a:solidFill>
                <a:latin typeface="Times New Roman" panose="02020603050405020304" pitchFamily="18" charset="0"/>
                <a:cs typeface="Times New Roman" panose="02020603050405020304" pitchFamily="18" charset="0"/>
              </a:rPr>
              <a:t> et </a:t>
            </a:r>
            <a:r>
              <a:rPr sz="2000" dirty="0" err="1">
                <a:solidFill>
                  <a:schemeClr val="accent1"/>
                </a:solidFill>
                <a:latin typeface="Times New Roman" panose="02020603050405020304" pitchFamily="18" charset="0"/>
                <a:cs typeface="Times New Roman" panose="02020603050405020304" pitchFamily="18" charset="0"/>
              </a:rPr>
              <a:t>création</a:t>
            </a:r>
            <a:r>
              <a:rPr sz="2000" dirty="0">
                <a:solidFill>
                  <a:schemeClr val="accent1"/>
                </a:solidFill>
                <a:latin typeface="Times New Roman" panose="02020603050405020304" pitchFamily="18" charset="0"/>
                <a:cs typeface="Times New Roman" panose="02020603050405020304" pitchFamily="18" charset="0"/>
              </a:rPr>
              <a:t> de variables </a:t>
            </a:r>
            <a:r>
              <a:rPr sz="2000" dirty="0" err="1">
                <a:solidFill>
                  <a:schemeClr val="accent1"/>
                </a:solidFill>
                <a:latin typeface="Times New Roman" panose="02020603050405020304" pitchFamily="18" charset="0"/>
                <a:cs typeface="Times New Roman" panose="02020603050405020304" pitchFamily="18" charset="0"/>
              </a:rPr>
              <a:t>dérivées</a:t>
            </a:r>
            <a:r>
              <a:rPr sz="2000" dirty="0">
                <a:solidFill>
                  <a:schemeClr val="accent1"/>
                </a:solidFill>
                <a:latin typeface="Times New Roman" panose="02020603050405020304" pitchFamily="18" charset="0"/>
                <a:cs typeface="Times New Roman" panose="02020603050405020304" pitchFamily="18" charset="0"/>
              </a:rPr>
              <a:t> : </a:t>
            </a:r>
            <a:r>
              <a:rPr sz="2000" dirty="0" err="1">
                <a:solidFill>
                  <a:schemeClr val="accent1"/>
                </a:solidFill>
                <a:latin typeface="Times New Roman" panose="02020603050405020304" pitchFamily="18" charset="0"/>
                <a:cs typeface="Times New Roman" panose="02020603050405020304" pitchFamily="18" charset="0"/>
              </a:rPr>
              <a:t>année</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mois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heure</a:t>
            </a:r>
            <a:r>
              <a:rPr sz="2000" dirty="0">
                <a:solidFill>
                  <a:schemeClr val="accent1"/>
                </a:solidFill>
                <a:latin typeface="Times New Roman" panose="02020603050405020304" pitchFamily="18" charset="0"/>
                <a:cs typeface="Times New Roman" panose="02020603050405020304" pitchFamily="18" charset="0"/>
              </a:rPr>
              <a:t>, jour de la </a:t>
            </a:r>
            <a:r>
              <a:rPr sz="2000" dirty="0" err="1">
                <a:solidFill>
                  <a:schemeClr val="accent1"/>
                </a:solidFill>
                <a:latin typeface="Times New Roman" panose="02020603050405020304" pitchFamily="18" charset="0"/>
                <a:cs typeface="Times New Roman" panose="02020603050405020304" pitchFamily="18" charset="0"/>
              </a:rPr>
              <a:t>semaine</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région</a:t>
            </a:r>
            <a:r>
              <a:rPr sz="2000" dirty="0">
                <a:solidFill>
                  <a:schemeClr val="accent1"/>
                </a:solidFill>
                <a:latin typeface="Times New Roman" panose="02020603050405020304" pitchFamily="18" charset="0"/>
                <a:cs typeface="Times New Roman" panose="02020603050405020304" pitchFamily="18" charset="0"/>
              </a:rPr>
              <a:t>, zone et accident </a:t>
            </a:r>
            <a:r>
              <a:rPr sz="2000" dirty="0" err="1">
                <a:solidFill>
                  <a:schemeClr val="accent1"/>
                </a:solidFill>
                <a:latin typeface="Times New Roman" panose="02020603050405020304" pitchFamily="18" charset="0"/>
                <a:cs typeface="Times New Roman" panose="02020603050405020304" pitchFamily="18" charset="0"/>
              </a:rPr>
              <a:t>mortel</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just">
              <a:spcAft>
                <a:spcPts val="1000"/>
              </a:spcAft>
              <a:buFont typeface="Wingdings" panose="05000000000000000000" pitchFamily="2" charset="2"/>
              <a:buChar char="ü"/>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Recodage</a:t>
            </a:r>
            <a:r>
              <a:rPr sz="2000" dirty="0">
                <a:solidFill>
                  <a:schemeClr val="accent1"/>
                </a:solidFill>
                <a:latin typeface="Times New Roman" panose="02020603050405020304" pitchFamily="18" charset="0"/>
                <a:cs typeface="Times New Roman" panose="02020603050405020304" pitchFamily="18" charset="0"/>
              </a:rPr>
              <a:t> des nomenclatures BAAC :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luminosité</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I</a:t>
            </a:r>
            <a:r>
              <a:rPr sz="2000" dirty="0" err="1">
                <a:solidFill>
                  <a:schemeClr val="accent1"/>
                </a:solidFill>
                <a:latin typeface="Times New Roman" panose="02020603050405020304" pitchFamily="18" charset="0"/>
                <a:cs typeface="Times New Roman" panose="02020603050405020304" pitchFamily="18" charset="0"/>
              </a:rPr>
              <a:t>ntersection</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M</a:t>
            </a:r>
            <a:r>
              <a:rPr sz="2000" dirty="0" err="1">
                <a:solidFill>
                  <a:schemeClr val="accent1"/>
                </a:solidFill>
                <a:latin typeface="Times New Roman" panose="02020603050405020304" pitchFamily="18" charset="0"/>
                <a:cs typeface="Times New Roman" panose="02020603050405020304" pitchFamily="18" charset="0"/>
              </a:rPr>
              <a:t>étéo</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C</a:t>
            </a:r>
            <a:r>
              <a:rPr sz="2000" dirty="0" err="1">
                <a:solidFill>
                  <a:schemeClr val="accent1"/>
                </a:solidFill>
                <a:latin typeface="Times New Roman" panose="02020603050405020304" pitchFamily="18" charset="0"/>
                <a:cs typeface="Times New Roman" panose="02020603050405020304" pitchFamily="18" charset="0"/>
              </a:rPr>
              <a:t>ollision</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R</a:t>
            </a:r>
            <a:r>
              <a:rPr sz="2000" dirty="0" err="1">
                <a:solidFill>
                  <a:schemeClr val="accent1"/>
                </a:solidFill>
                <a:latin typeface="Times New Roman" panose="02020603050405020304" pitchFamily="18" charset="0"/>
                <a:cs typeface="Times New Roman" panose="02020603050405020304" pitchFamily="18" charset="0"/>
              </a:rPr>
              <a:t>oute</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V</a:t>
            </a:r>
            <a:r>
              <a:rPr sz="2000" dirty="0" err="1">
                <a:solidFill>
                  <a:schemeClr val="accent1"/>
                </a:solidFill>
                <a:latin typeface="Times New Roman" panose="02020603050405020304" pitchFamily="18" charset="0"/>
                <a:cs typeface="Times New Roman" panose="02020603050405020304" pitchFamily="18" charset="0"/>
              </a:rPr>
              <a:t>éhicule</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just">
              <a:spcAft>
                <a:spcPts val="1000"/>
              </a:spcAft>
              <a:buFont typeface="Arial" panose="020B0604020202020204" pitchFamily="34" charset="0"/>
              <a:buChar char="•"/>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U</a:t>
            </a:r>
            <a:r>
              <a:rPr sz="2000" dirty="0">
                <a:solidFill>
                  <a:schemeClr val="accent1"/>
                </a:solidFill>
                <a:latin typeface="Times New Roman" panose="02020603050405020304" pitchFamily="18" charset="0"/>
                <a:cs typeface="Times New Roman" panose="02020603050405020304" pitchFamily="18" charset="0"/>
              </a:rPr>
              <a:t>sager, etc.</a:t>
            </a:r>
          </a:p>
          <a:p>
            <a:pPr algn="just">
              <a:spcAft>
                <a:spcPts val="1000"/>
              </a:spcAft>
              <a:defRPr sz="1800">
                <a:solidFill>
                  <a:srgbClr val="2C312F"/>
                </a:solidFill>
              </a:defRPr>
            </a:pPr>
            <a:endParaRPr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4</a:t>
            </a:r>
          </a:p>
        </p:txBody>
      </p:sp>
      <p:pic>
        <p:nvPicPr>
          <p:cNvPr id="7" name="Image 6">
            <a:extLst>
              <a:ext uri="{FF2B5EF4-FFF2-40B4-BE49-F238E27FC236}">
                <a16:creationId xmlns:a16="http://schemas.microsoft.com/office/drawing/2014/main" id="{49D5EB4F-2FB3-C02F-F8B0-F7F2B02F769D}"/>
              </a:ext>
            </a:extLst>
          </p:cNvPr>
          <p:cNvPicPr>
            <a:picLocks noChangeAspect="1"/>
          </p:cNvPicPr>
          <p:nvPr/>
        </p:nvPicPr>
        <p:blipFill>
          <a:blip r:embed="rId3"/>
          <a:stretch>
            <a:fillRect/>
          </a:stretch>
        </p:blipFill>
        <p:spPr>
          <a:xfrm>
            <a:off x="305" y="0"/>
            <a:ext cx="12191389" cy="68280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835640" cy="492443"/>
          </a:xfrm>
          <a:prstGeom prst="rect">
            <a:avLst/>
          </a:prstGeom>
          <a:noFill/>
        </p:spPr>
        <p:txBody>
          <a:bodyPr wrap="squar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4</a:t>
            </a:r>
            <a:r>
              <a:rPr lang="fr-FR" sz="2600" b="1" dirty="0">
                <a:solidFill>
                  <a:schemeClr val="accent1"/>
                </a:solidFill>
                <a:latin typeface="Times New Roman" panose="02020603050405020304" pitchFamily="18" charset="0"/>
                <a:cs typeface="Times New Roman" panose="02020603050405020304" pitchFamily="18" charset="0"/>
              </a:rPr>
              <a:t>/11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Méthodologie</a:t>
            </a:r>
            <a:r>
              <a:rPr sz="2600" b="1" dirty="0">
                <a:solidFill>
                  <a:schemeClr val="accent1"/>
                </a:solidFill>
                <a:latin typeface="Times New Roman" panose="02020603050405020304" pitchFamily="18" charset="0"/>
                <a:cs typeface="Times New Roman" panose="02020603050405020304" pitchFamily="18" charset="0"/>
              </a:rPr>
              <a:t> et </a:t>
            </a:r>
            <a:r>
              <a:rPr sz="2600" b="1" dirty="0" err="1">
                <a:solidFill>
                  <a:schemeClr val="accent1"/>
                </a:solidFill>
                <a:latin typeface="Times New Roman" panose="02020603050405020304" pitchFamily="18" charset="0"/>
                <a:cs typeface="Times New Roman" panose="02020603050405020304" pitchFamily="18" charset="0"/>
              </a:rPr>
              <a:t>outils</a:t>
            </a:r>
            <a:endParaRPr sz="2600" b="1" dirty="0">
              <a:solidFill>
                <a:schemeClr val="accent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777240" y="1353312"/>
            <a:ext cx="10561320" cy="5196294"/>
          </a:xfrm>
          <a:prstGeom prst="rect">
            <a:avLst/>
          </a:prstGeom>
          <a:noFill/>
        </p:spPr>
        <p:txBody>
          <a:bodyPr wrap="square">
            <a:spAutoFit/>
          </a:bodyPr>
          <a:lstStyle/>
          <a:p>
            <a:pPr marL="342900" indent="-342900" algn="ctr">
              <a:spcAft>
                <a:spcPts val="1000"/>
              </a:spcAft>
              <a:buFont typeface="Wingdings" panose="05000000000000000000" pitchFamily="2" charset="2"/>
              <a:buChar char="ü"/>
              <a:defRPr sz="1600">
                <a:solidFill>
                  <a:srgbClr val="2C312F"/>
                </a:solidFill>
              </a:defRPr>
            </a:pPr>
            <a:r>
              <a:rPr sz="2000" dirty="0">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Collecte</a:t>
            </a:r>
            <a:r>
              <a:rPr sz="2000" dirty="0">
                <a:solidFill>
                  <a:schemeClr val="accent1"/>
                </a:solidFill>
                <a:latin typeface="Times New Roman" panose="02020603050405020304" pitchFamily="18" charset="0"/>
                <a:cs typeface="Times New Roman" panose="02020603050405020304" pitchFamily="18" charset="0"/>
              </a:rPr>
              <a:t> et </a:t>
            </a:r>
            <a:r>
              <a:rPr sz="2000" dirty="0" err="1">
                <a:solidFill>
                  <a:schemeClr val="accent1"/>
                </a:solidFill>
                <a:latin typeface="Times New Roman" panose="02020603050405020304" pitchFamily="18" charset="0"/>
                <a:cs typeface="Times New Roman" panose="02020603050405020304" pitchFamily="18" charset="0"/>
              </a:rPr>
              <a:t>compréhension</a:t>
            </a:r>
            <a:r>
              <a:rPr sz="2000" dirty="0">
                <a:solidFill>
                  <a:schemeClr val="accent1"/>
                </a:solidFill>
                <a:latin typeface="Times New Roman" panose="02020603050405020304" pitchFamily="18" charset="0"/>
                <a:cs typeface="Times New Roman" panose="02020603050405020304" pitchFamily="18" charset="0"/>
              </a:rPr>
              <a:t> des données BAAC.</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Python :</a:t>
            </a:r>
            <a:endParaRP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Arial" panose="020B0604020202020204" pitchFamily="34" charset="0"/>
              <a:buChar char="•"/>
              <a:defRPr sz="16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Nettoyage</a:t>
            </a:r>
            <a:r>
              <a:rPr sz="2000" dirty="0">
                <a:solidFill>
                  <a:schemeClr val="accent1"/>
                </a:solidFill>
                <a:latin typeface="Times New Roman" panose="02020603050405020304" pitchFamily="18" charset="0"/>
                <a:cs typeface="Times New Roman" panose="02020603050405020304" pitchFamily="18" charset="0"/>
              </a:rPr>
              <a:t>, fusion et transformation sous Pandas.</a:t>
            </a:r>
          </a:p>
          <a:p>
            <a:pPr marL="342900" indent="-342900" algn="ctr">
              <a:spcAft>
                <a:spcPts val="1000"/>
              </a:spcAft>
              <a:buFont typeface="Arial" panose="020B0604020202020204" pitchFamily="34" charset="0"/>
              <a:buChar char="•"/>
              <a:defRPr sz="16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Analyse</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exploratoire</a:t>
            </a:r>
            <a:r>
              <a:rPr sz="2000" dirty="0">
                <a:solidFill>
                  <a:schemeClr val="accent1"/>
                </a:solidFill>
                <a:latin typeface="Times New Roman" panose="02020603050405020304" pitchFamily="18" charset="0"/>
                <a:cs typeface="Times New Roman" panose="02020603050405020304" pitchFamily="18" charset="0"/>
              </a:rPr>
              <a:t> et </a:t>
            </a:r>
            <a:r>
              <a:rPr sz="2000" dirty="0" err="1">
                <a:solidFill>
                  <a:schemeClr val="accent1"/>
                </a:solidFill>
                <a:latin typeface="Times New Roman" panose="02020603050405020304" pitchFamily="18" charset="0"/>
                <a:cs typeface="Times New Roman" panose="02020603050405020304" pitchFamily="18" charset="0"/>
              </a:rPr>
              <a:t>statistique</a:t>
            </a:r>
            <a:r>
              <a:rPr sz="2000" dirty="0">
                <a:solidFill>
                  <a:schemeClr val="accent1"/>
                </a:solidFill>
                <a:latin typeface="Times New Roman" panose="02020603050405020304" pitchFamily="18" charset="0"/>
                <a:cs typeface="Times New Roman" panose="02020603050405020304" pitchFamily="18" charset="0"/>
              </a:rPr>
              <a:t> descriptive.</a:t>
            </a:r>
          </a:p>
          <a:p>
            <a:pPr marL="342900" indent="-342900" algn="ctr">
              <a:spcAft>
                <a:spcPts val="1000"/>
              </a:spcAft>
              <a:buFont typeface="Arial" panose="020B0604020202020204" pitchFamily="34" charset="0"/>
              <a:buChar char="•"/>
              <a:defRPr sz="16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Création</a:t>
            </a:r>
            <a:r>
              <a:rPr sz="2000" dirty="0">
                <a:solidFill>
                  <a:schemeClr val="accent1"/>
                </a:solidFill>
                <a:latin typeface="Times New Roman" panose="02020603050405020304" pitchFamily="18" charset="0"/>
                <a:cs typeface="Times New Roman" panose="02020603050405020304" pitchFamily="18" charset="0"/>
              </a:rPr>
              <a:t> de </a:t>
            </a:r>
            <a:r>
              <a:rPr sz="2000" dirty="0" err="1">
                <a:solidFill>
                  <a:schemeClr val="accent1"/>
                </a:solidFill>
                <a:latin typeface="Times New Roman" panose="02020603050405020304" pitchFamily="18" charset="0"/>
                <a:cs typeface="Times New Roman" panose="02020603050405020304" pitchFamily="18" charset="0"/>
              </a:rPr>
              <a:t>graphiques</a:t>
            </a:r>
            <a:r>
              <a:rPr sz="2000" dirty="0">
                <a:solidFill>
                  <a:schemeClr val="accent1"/>
                </a:solidFill>
                <a:latin typeface="Times New Roman" panose="02020603050405020304" pitchFamily="18" charset="0"/>
                <a:cs typeface="Times New Roman" panose="02020603050405020304" pitchFamily="18" charset="0"/>
              </a:rPr>
              <a:t> pour identifier tendances et </a:t>
            </a:r>
            <a:r>
              <a:rPr sz="2000" dirty="0" err="1">
                <a:solidFill>
                  <a:schemeClr val="accent1"/>
                </a:solidFill>
                <a:latin typeface="Times New Roman" panose="02020603050405020304" pitchFamily="18" charset="0"/>
                <a:cs typeface="Times New Roman" panose="02020603050405020304" pitchFamily="18" charset="0"/>
              </a:rPr>
              <a:t>facteurs</a:t>
            </a:r>
            <a:r>
              <a:rPr sz="2000" dirty="0">
                <a:solidFill>
                  <a:schemeClr val="accent1"/>
                </a:solidFill>
                <a:latin typeface="Times New Roman" panose="02020603050405020304" pitchFamily="18" charset="0"/>
                <a:cs typeface="Times New Roman" panose="02020603050405020304" pitchFamily="18" charset="0"/>
              </a:rPr>
              <a:t> </a:t>
            </a:r>
            <a:r>
              <a:rPr sz="2000" dirty="0" err="1">
                <a:solidFill>
                  <a:schemeClr val="accent1"/>
                </a:solidFill>
                <a:latin typeface="Times New Roman" panose="02020603050405020304" pitchFamily="18" charset="0"/>
                <a:cs typeface="Times New Roman" panose="02020603050405020304" pitchFamily="18" charset="0"/>
              </a:rPr>
              <a:t>associés</a:t>
            </a:r>
            <a:r>
              <a:rPr sz="2000" dirty="0">
                <a:solidFill>
                  <a:schemeClr val="accent1"/>
                </a:solidFill>
                <a:latin typeface="Times New Roman" panose="02020603050405020304" pitchFamily="18" charset="0"/>
                <a:cs typeface="Times New Roman" panose="02020603050405020304" pitchFamily="18" charset="0"/>
              </a:rPr>
              <a:t>.</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Arial" panose="020B0604020202020204" pitchFamily="34" charset="0"/>
              <a:buChar char="•"/>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Interprétation des résultats, </a:t>
            </a:r>
          </a:p>
          <a:p>
            <a:pPr marL="342900" indent="-342900" algn="ctr">
              <a:spcAft>
                <a:spcPts val="1000"/>
              </a:spcAft>
              <a:buFont typeface="Arial" panose="020B0604020202020204" pitchFamily="34" charset="0"/>
              <a:buChar char="•"/>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Recommandations </a:t>
            </a:r>
          </a:p>
          <a:p>
            <a:pPr marL="342900" indent="-342900" algn="ctr">
              <a:spcAft>
                <a:spcPts val="1000"/>
              </a:spcAft>
              <a:buFont typeface="Arial" panose="020B0604020202020204" pitchFamily="34" charset="0"/>
              <a:buChar char="•"/>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Identification des limites</a:t>
            </a:r>
          </a:p>
          <a:p>
            <a:pPr marL="342900" indent="-342900" algn="ctr">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Power BI</a:t>
            </a:r>
            <a:endParaRP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Arial" panose="020B0604020202020204" pitchFamily="34" charset="0"/>
              <a:buChar char="•"/>
              <a:defRPr sz="1600">
                <a:solidFill>
                  <a:srgbClr val="2C312F"/>
                </a:solidFill>
              </a:defRPr>
            </a:pPr>
            <a:r>
              <a:rPr sz="2000" dirty="0" err="1">
                <a:solidFill>
                  <a:schemeClr val="accent1"/>
                </a:solidFill>
                <a:latin typeface="Times New Roman" panose="02020603050405020304" pitchFamily="18" charset="0"/>
                <a:cs typeface="Times New Roman" panose="02020603050405020304" pitchFamily="18" charset="0"/>
              </a:rPr>
              <a:t>Préparation</a:t>
            </a:r>
            <a:r>
              <a:rPr sz="2000" dirty="0">
                <a:solidFill>
                  <a:schemeClr val="accent1"/>
                </a:solidFill>
                <a:latin typeface="Times New Roman" panose="02020603050405020304" pitchFamily="18" charset="0"/>
                <a:cs typeface="Times New Roman" panose="02020603050405020304" pitchFamily="18" charset="0"/>
              </a:rPr>
              <a:t> du </a:t>
            </a:r>
            <a:r>
              <a:rPr sz="2000" dirty="0" err="1">
                <a:solidFill>
                  <a:schemeClr val="accent1"/>
                </a:solidFill>
                <a:latin typeface="Times New Roman" panose="02020603050405020304" pitchFamily="18" charset="0"/>
                <a:cs typeface="Times New Roman" panose="02020603050405020304" pitchFamily="18" charset="0"/>
              </a:rPr>
              <a:t>modèle</a:t>
            </a:r>
            <a:r>
              <a:rPr sz="2000" dirty="0">
                <a:solidFill>
                  <a:schemeClr val="accent1"/>
                </a:solidFill>
                <a:latin typeface="Times New Roman" panose="02020603050405020304" pitchFamily="18" charset="0"/>
                <a:cs typeface="Times New Roman" panose="02020603050405020304" pitchFamily="18" charset="0"/>
              </a:rPr>
              <a:t>, </a:t>
            </a: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Arial" panose="020B0604020202020204" pitchFamily="34" charset="0"/>
              <a:buChar char="•"/>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C</a:t>
            </a:r>
            <a:r>
              <a:rPr sz="2000" dirty="0" err="1">
                <a:solidFill>
                  <a:schemeClr val="accent1"/>
                </a:solidFill>
                <a:latin typeface="Times New Roman" panose="02020603050405020304" pitchFamily="18" charset="0"/>
                <a:cs typeface="Times New Roman" panose="02020603050405020304" pitchFamily="18" charset="0"/>
              </a:rPr>
              <a:t>réation</a:t>
            </a:r>
            <a:r>
              <a:rPr sz="2000" dirty="0">
                <a:solidFill>
                  <a:schemeClr val="accent1"/>
                </a:solidFill>
                <a:latin typeface="Times New Roman" panose="02020603050405020304" pitchFamily="18" charset="0"/>
                <a:cs typeface="Times New Roman" panose="02020603050405020304" pitchFamily="18" charset="0"/>
              </a:rPr>
              <a:t> des </a:t>
            </a:r>
            <a:r>
              <a:rPr sz="2000" dirty="0" err="1">
                <a:solidFill>
                  <a:schemeClr val="accent1"/>
                </a:solidFill>
                <a:latin typeface="Times New Roman" panose="02020603050405020304" pitchFamily="18" charset="0"/>
                <a:cs typeface="Times New Roman" panose="02020603050405020304" pitchFamily="18" charset="0"/>
              </a:rPr>
              <a:t>mesures</a:t>
            </a:r>
            <a:r>
              <a:rPr sz="2000" dirty="0">
                <a:solidFill>
                  <a:schemeClr val="accent1"/>
                </a:solidFill>
                <a:latin typeface="Times New Roman" panose="02020603050405020304" pitchFamily="18" charset="0"/>
                <a:cs typeface="Times New Roman" panose="02020603050405020304" pitchFamily="18" charset="0"/>
              </a:rPr>
              <a:t> DAX et des variables </a:t>
            </a:r>
            <a:r>
              <a:rPr sz="2000" dirty="0" err="1">
                <a:solidFill>
                  <a:schemeClr val="accent1"/>
                </a:solidFill>
                <a:latin typeface="Times New Roman" panose="02020603050405020304" pitchFamily="18" charset="0"/>
                <a:cs typeface="Times New Roman" panose="02020603050405020304" pitchFamily="18" charset="0"/>
              </a:rPr>
              <a:t>catégorielles</a:t>
            </a:r>
            <a:r>
              <a:rPr sz="2000" dirty="0">
                <a:solidFill>
                  <a:schemeClr val="accent1"/>
                </a:solidFill>
                <a:latin typeface="Times New Roman" panose="02020603050405020304" pitchFamily="18" charset="0"/>
                <a:cs typeface="Times New Roman" panose="02020603050405020304" pitchFamily="18" charset="0"/>
              </a:rPr>
              <a:t>.</a:t>
            </a:r>
          </a:p>
          <a:p>
            <a:pPr marL="342900" indent="-342900" algn="ctr">
              <a:spcAft>
                <a:spcPts val="1000"/>
              </a:spcAft>
              <a:buFont typeface="Arial" panose="020B0604020202020204" pitchFamily="34" charset="0"/>
              <a:buChar char="•"/>
              <a:defRPr sz="1600">
                <a:solidFill>
                  <a:srgbClr val="2C312F"/>
                </a:solidFill>
              </a:defRPr>
            </a:pPr>
            <a:r>
              <a:rPr sz="2000" dirty="0">
                <a:solidFill>
                  <a:schemeClr val="accent1"/>
                </a:solidFill>
                <a:latin typeface="Times New Roman" panose="02020603050405020304" pitchFamily="18" charset="0"/>
                <a:cs typeface="Times New Roman" panose="02020603050405020304" pitchFamily="18" charset="0"/>
              </a:rPr>
              <a:t>Construction d’un dashboard </a:t>
            </a:r>
            <a:r>
              <a:rPr sz="2000" dirty="0" err="1">
                <a:solidFill>
                  <a:schemeClr val="accent1"/>
                </a:solidFill>
                <a:latin typeface="Times New Roman" panose="02020603050405020304" pitchFamily="18" charset="0"/>
                <a:cs typeface="Times New Roman" panose="02020603050405020304" pitchFamily="18" charset="0"/>
              </a:rPr>
              <a:t>interactif</a:t>
            </a:r>
            <a:r>
              <a:rPr sz="2000" dirty="0">
                <a:solidFill>
                  <a:schemeClr val="accent1"/>
                </a:solidFill>
                <a:latin typeface="Times New Roman" panose="02020603050405020304" pitchFamily="18" charset="0"/>
                <a:cs typeface="Times New Roman" panose="02020603050405020304" pitchFamily="18" charset="0"/>
              </a:rPr>
              <a:t> pour </a:t>
            </a:r>
            <a:r>
              <a:rPr sz="2000" dirty="0" err="1">
                <a:solidFill>
                  <a:schemeClr val="accent1"/>
                </a:solidFill>
                <a:latin typeface="Times New Roman" panose="02020603050405020304" pitchFamily="18" charset="0"/>
                <a:cs typeface="Times New Roman" panose="02020603050405020304" pitchFamily="18" charset="0"/>
              </a:rPr>
              <a:t>l’aide</a:t>
            </a:r>
            <a:r>
              <a:rPr sz="2000" dirty="0">
                <a:solidFill>
                  <a:schemeClr val="accent1"/>
                </a:solidFill>
                <a:latin typeface="Times New Roman" panose="02020603050405020304" pitchFamily="18" charset="0"/>
                <a:cs typeface="Times New Roman" panose="02020603050405020304" pitchFamily="18" charset="0"/>
              </a:rPr>
              <a:t> à la </a:t>
            </a:r>
            <a:r>
              <a:rPr sz="2000" dirty="0" err="1">
                <a:solidFill>
                  <a:schemeClr val="accent1"/>
                </a:solidFill>
                <a:latin typeface="Times New Roman" panose="02020603050405020304" pitchFamily="18" charset="0"/>
                <a:cs typeface="Times New Roman" panose="02020603050405020304" pitchFamily="18" charset="0"/>
              </a:rPr>
              <a:t>décision</a:t>
            </a:r>
            <a:r>
              <a:rPr sz="2000" dirty="0">
                <a:solidFill>
                  <a:schemeClr val="accent1"/>
                </a:solidFill>
                <a:latin typeface="Times New Roman" panose="02020603050405020304" pitchFamily="18" charset="0"/>
                <a:cs typeface="Times New Roman" panose="02020603050405020304" pitchFamily="18" charset="0"/>
              </a:rPr>
              <a:t>.</a:t>
            </a: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5</a:t>
            </a:r>
          </a:p>
        </p:txBody>
      </p:sp>
      <p:pic>
        <p:nvPicPr>
          <p:cNvPr id="7" name="Image 6">
            <a:extLst>
              <a:ext uri="{FF2B5EF4-FFF2-40B4-BE49-F238E27FC236}">
                <a16:creationId xmlns:a16="http://schemas.microsoft.com/office/drawing/2014/main" id="{F8E9D6C9-0F26-914A-F6C1-3FFCC326DEDD}"/>
              </a:ext>
            </a:extLst>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 y="0"/>
            <a:ext cx="12192000"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92443"/>
          </a:xfrm>
          <a:prstGeom prst="rect">
            <a:avLst/>
          </a:prstGeom>
          <a:noFill/>
        </p:spPr>
        <p:txBody>
          <a:bodyPr wrap="squar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5</a:t>
            </a:r>
            <a:r>
              <a:rPr lang="fr-FR" sz="2600" b="1" dirty="0">
                <a:solidFill>
                  <a:schemeClr val="accent1"/>
                </a:solidFill>
                <a:latin typeface="Times New Roman" panose="02020603050405020304" pitchFamily="18" charset="0"/>
                <a:cs typeface="Times New Roman" panose="02020603050405020304" pitchFamily="18" charset="0"/>
              </a:rPr>
              <a:t>/11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Évolution</a:t>
            </a:r>
            <a:r>
              <a:rPr sz="2600" b="1" dirty="0">
                <a:solidFill>
                  <a:schemeClr val="accent1"/>
                </a:solidFill>
                <a:latin typeface="Times New Roman" panose="02020603050405020304" pitchFamily="18" charset="0"/>
                <a:cs typeface="Times New Roman" panose="02020603050405020304" pitchFamily="18" charset="0"/>
              </a:rPr>
              <a:t> de </a:t>
            </a:r>
            <a:r>
              <a:rPr sz="2600" b="1" dirty="0" err="1">
                <a:solidFill>
                  <a:schemeClr val="accent1"/>
                </a:solidFill>
                <a:latin typeface="Times New Roman" panose="02020603050405020304" pitchFamily="18" charset="0"/>
                <a:cs typeface="Times New Roman" panose="02020603050405020304" pitchFamily="18" charset="0"/>
              </a:rPr>
              <a:t>l’accidentalité</a:t>
            </a:r>
            <a:r>
              <a:rPr sz="2600" b="1" dirty="0">
                <a:solidFill>
                  <a:schemeClr val="accent1"/>
                </a:solidFill>
                <a:latin typeface="Times New Roman" panose="02020603050405020304" pitchFamily="18" charset="0"/>
                <a:cs typeface="Times New Roman" panose="02020603050405020304" pitchFamily="18" charset="0"/>
              </a:rPr>
              <a:t> entre 2019 et 2024</a:t>
            </a:r>
          </a:p>
        </p:txBody>
      </p:sp>
      <p:sp>
        <p:nvSpPr>
          <p:cNvPr id="4" name="Rounded Rectangle 3"/>
          <p:cNvSpPr/>
          <p:nvPr/>
        </p:nvSpPr>
        <p:spPr>
          <a:xfrm>
            <a:off x="594360" y="1234440"/>
            <a:ext cx="2468880" cy="114300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5767" y="1344168"/>
            <a:ext cx="1786066" cy="707886"/>
          </a:xfrm>
          <a:prstGeom prst="rect">
            <a:avLst/>
          </a:prstGeom>
          <a:noFill/>
        </p:spPr>
        <p:txBody>
          <a:bodyPr wrap="none">
            <a:spAutoFit/>
          </a:bodyPr>
          <a:lstStyle/>
          <a:p>
            <a:pPr algn="ctr"/>
            <a:r>
              <a:rPr sz="2000" dirty="0">
                <a:solidFill>
                  <a:schemeClr val="accent1"/>
                </a:solidFill>
                <a:latin typeface="Times New Roman" panose="02020603050405020304" pitchFamily="18" charset="0"/>
                <a:cs typeface="Times New Roman" panose="02020603050405020304" pitchFamily="18" charset="0"/>
              </a:rPr>
              <a:t>58 840</a:t>
            </a:r>
          </a:p>
          <a:p>
            <a:pPr algn="ctr"/>
            <a:r>
              <a:rPr sz="2000" dirty="0">
                <a:solidFill>
                  <a:schemeClr val="accent1"/>
                </a:solidFill>
                <a:latin typeface="Times New Roman" panose="02020603050405020304" pitchFamily="18" charset="0"/>
                <a:cs typeface="Times New Roman" panose="02020603050405020304" pitchFamily="18" charset="0"/>
              </a:rPr>
              <a:t>Accidents 2019</a:t>
            </a:r>
          </a:p>
        </p:txBody>
      </p:sp>
      <p:sp>
        <p:nvSpPr>
          <p:cNvPr id="6" name="Rounded Rectangle 5"/>
          <p:cNvSpPr/>
          <p:nvPr/>
        </p:nvSpPr>
        <p:spPr>
          <a:xfrm>
            <a:off x="3429000" y="1234440"/>
            <a:ext cx="2468880" cy="114300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48766" y="1344168"/>
            <a:ext cx="1829348"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47 744</a:t>
            </a:r>
          </a:p>
          <a:p>
            <a:pPr algn="ctr"/>
            <a:r>
              <a:rPr sz="2000" b="1" dirty="0">
                <a:solidFill>
                  <a:schemeClr val="accent1"/>
                </a:solidFill>
                <a:latin typeface="Times New Roman" panose="02020603050405020304" pitchFamily="18" charset="0"/>
                <a:cs typeface="Times New Roman" panose="02020603050405020304" pitchFamily="18" charset="0"/>
              </a:rPr>
              <a:t>Accidents 2020</a:t>
            </a:r>
          </a:p>
        </p:txBody>
      </p:sp>
      <p:sp>
        <p:nvSpPr>
          <p:cNvPr id="8" name="Rounded Rectangle 7"/>
          <p:cNvSpPr/>
          <p:nvPr/>
        </p:nvSpPr>
        <p:spPr>
          <a:xfrm>
            <a:off x="6263640" y="1234440"/>
            <a:ext cx="2468880" cy="114300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406" y="1344168"/>
            <a:ext cx="1829348"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56 518</a:t>
            </a:r>
          </a:p>
          <a:p>
            <a:pPr algn="ctr"/>
            <a:r>
              <a:rPr sz="2000" b="1" dirty="0">
                <a:solidFill>
                  <a:schemeClr val="accent1"/>
                </a:solidFill>
                <a:latin typeface="Times New Roman" panose="02020603050405020304" pitchFamily="18" charset="0"/>
                <a:cs typeface="Times New Roman" panose="02020603050405020304" pitchFamily="18" charset="0"/>
              </a:rPr>
              <a:t>Accidents 2021</a:t>
            </a:r>
          </a:p>
        </p:txBody>
      </p:sp>
      <p:sp>
        <p:nvSpPr>
          <p:cNvPr id="10" name="Rounded Rectangle 9"/>
          <p:cNvSpPr/>
          <p:nvPr/>
        </p:nvSpPr>
        <p:spPr>
          <a:xfrm>
            <a:off x="9098280" y="1234440"/>
            <a:ext cx="2468880" cy="114300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046" y="1344168"/>
            <a:ext cx="1829347"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54 402</a:t>
            </a:r>
          </a:p>
          <a:p>
            <a:pPr algn="ctr"/>
            <a:r>
              <a:rPr sz="2000" b="1" dirty="0">
                <a:solidFill>
                  <a:schemeClr val="accent1"/>
                </a:solidFill>
                <a:latin typeface="Times New Roman" panose="02020603050405020304" pitchFamily="18" charset="0"/>
                <a:cs typeface="Times New Roman" panose="02020603050405020304" pitchFamily="18" charset="0"/>
              </a:rPr>
              <a:t>Accidents 2024</a:t>
            </a:r>
          </a:p>
        </p:txBody>
      </p:sp>
      <p:sp>
        <p:nvSpPr>
          <p:cNvPr id="12" name="TextBox 11"/>
          <p:cNvSpPr txBox="1"/>
          <p:nvPr/>
        </p:nvSpPr>
        <p:spPr>
          <a:xfrm>
            <a:off x="594360" y="2693574"/>
            <a:ext cx="10972799" cy="1272143"/>
          </a:xfrm>
          <a:prstGeom prst="rect">
            <a:avLst/>
          </a:prstGeom>
          <a:noFill/>
        </p:spPr>
        <p:txBody>
          <a:bodyPr wrap="square">
            <a:spAutoFit/>
          </a:bodyPr>
          <a:lstStyle/>
          <a:p>
            <a:pPr>
              <a:spcAft>
                <a:spcPts val="1000"/>
              </a:spcAft>
              <a:defRPr sz="1700">
                <a:solidFill>
                  <a:srgbClr val="2C312F"/>
                </a:solidFill>
              </a:defRPr>
            </a:pPr>
            <a:r>
              <a:rPr lang="fr-FR" sz="2000" dirty="0">
                <a:latin typeface="Times New Roman" panose="02020603050405020304" pitchFamily="18" charset="0"/>
                <a:cs typeface="Times New Roman" panose="02020603050405020304" pitchFamily="18" charset="0"/>
              </a:rPr>
              <a:t> 2020                            </a:t>
            </a:r>
            <a:r>
              <a:rPr sz="2000" dirty="0">
                <a:latin typeface="Times New Roman" panose="02020603050405020304" pitchFamily="18" charset="0"/>
                <a:cs typeface="Times New Roman" panose="02020603050405020304" pitchFamily="18" charset="0"/>
              </a:rPr>
              <a:t>2021</a:t>
            </a:r>
            <a:r>
              <a:rPr lang="fr-FR"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Les accidents </a:t>
            </a:r>
            <a:r>
              <a:rPr sz="2000" dirty="0" err="1">
                <a:latin typeface="Times New Roman" panose="02020603050405020304" pitchFamily="18" charset="0"/>
                <a:cs typeface="Times New Roman" panose="02020603050405020304" pitchFamily="18" charset="0"/>
              </a:rPr>
              <a:t>mortels</a:t>
            </a:r>
            <a:r>
              <a:rPr lang="fr-FR" sz="2000" dirty="0">
                <a:latin typeface="Times New Roman" panose="02020603050405020304" pitchFamily="18" charset="0"/>
                <a:cs typeface="Times New Roman" panose="02020603050405020304" pitchFamily="18" charset="0"/>
              </a:rPr>
              <a:t> :    	                             Depuis 2022                </a:t>
            </a:r>
          </a:p>
          <a:p>
            <a:pPr>
              <a:spcAft>
                <a:spcPts val="1000"/>
              </a:spcAft>
              <a:defRPr sz="1700">
                <a:solidFill>
                  <a:srgbClr val="2C312F"/>
                </a:solidFill>
              </a:defRPr>
            </a:pPr>
            <a:r>
              <a:rPr lang="fr-FR" sz="2000" dirty="0">
                <a:latin typeface="Times New Roman" panose="02020603050405020304" pitchFamily="18" charset="0"/>
                <a:cs typeface="Times New Roman" panose="02020603050405020304" pitchFamily="18" charset="0"/>
              </a:rPr>
              <a:t> -18,9 %                      +18,4 %                         De 3 284 à 2 616 entre 2019 - 2020 </a:t>
            </a:r>
          </a:p>
          <a:p>
            <a:pPr>
              <a:spcAft>
                <a:spcPts val="1000"/>
              </a:spcAft>
              <a:defRPr sz="1700">
                <a:solidFill>
                  <a:srgbClr val="2C312F"/>
                </a:solidFill>
              </a:defRPr>
            </a:pPr>
            <a:r>
              <a:rPr lang="fr-FR" sz="2000" dirty="0">
                <a:latin typeface="Times New Roman" panose="02020603050405020304" pitchFamily="18" charset="0"/>
                <a:cs typeface="Times New Roman" panose="02020603050405020304" pitchFamily="18" charset="0"/>
              </a:rPr>
              <a:t>                                                                          De </a:t>
            </a:r>
            <a:r>
              <a:rPr sz="2000" dirty="0">
                <a:latin typeface="Times New Roman" panose="02020603050405020304" pitchFamily="18" charset="0"/>
                <a:cs typeface="Times New Roman" panose="02020603050405020304" pitchFamily="18" charset="0"/>
              </a:rPr>
              <a:t>3 337 </a:t>
            </a:r>
            <a:r>
              <a:rPr lang="fr-FR" sz="2000" dirty="0">
                <a:latin typeface="Times New Roman" panose="02020603050405020304" pitchFamily="18" charset="0"/>
                <a:cs typeface="Times New Roman" panose="02020603050405020304" pitchFamily="18" charset="0"/>
              </a:rPr>
              <a:t>à</a:t>
            </a:r>
            <a:r>
              <a:rPr sz="2000" dirty="0">
                <a:latin typeface="Times New Roman" panose="02020603050405020304" pitchFamily="18" charset="0"/>
                <a:cs typeface="Times New Roman" panose="02020603050405020304" pitchFamily="18" charset="0"/>
              </a:rPr>
              <a:t> 3 226 </a:t>
            </a:r>
            <a:r>
              <a:rPr sz="2000" dirty="0" err="1">
                <a:latin typeface="Times New Roman" panose="02020603050405020304" pitchFamily="18" charset="0"/>
                <a:cs typeface="Times New Roman" panose="02020603050405020304" pitchFamily="18" charset="0"/>
              </a:rPr>
              <a:t>en</a:t>
            </a:r>
            <a:r>
              <a:rPr lang="fr-FR" sz="2000" dirty="0" err="1">
                <a:latin typeface="Times New Roman" panose="02020603050405020304" pitchFamily="18" charset="0"/>
                <a:cs typeface="Times New Roman" panose="02020603050405020304" pitchFamily="18" charset="0"/>
              </a:rPr>
              <a:t>tre</a:t>
            </a:r>
            <a:r>
              <a:rPr lang="fr-FR" sz="2000" dirty="0">
                <a:latin typeface="Times New Roman" panose="02020603050405020304" pitchFamily="18" charset="0"/>
                <a:cs typeface="Times New Roman" panose="02020603050405020304" pitchFamily="18" charset="0"/>
              </a:rPr>
              <a:t> 2022 -</a:t>
            </a:r>
            <a:r>
              <a:rPr sz="2000" dirty="0">
                <a:latin typeface="Times New Roman" panose="02020603050405020304" pitchFamily="18" charset="0"/>
                <a:cs typeface="Times New Roman" panose="02020603050405020304" pitchFamily="18" charset="0"/>
              </a:rPr>
              <a:t> 2024</a:t>
            </a:r>
          </a:p>
        </p:txBody>
      </p:sp>
      <p:sp>
        <p:nvSpPr>
          <p:cNvPr id="13" name="TextBox 12"/>
          <p:cNvSpPr txBox="1"/>
          <p:nvPr/>
        </p:nvSpPr>
        <p:spPr>
          <a:xfrm>
            <a:off x="10972800" y="6446520"/>
            <a:ext cx="457200" cy="182880"/>
          </a:xfrm>
          <a:prstGeom prst="rect">
            <a:avLst/>
          </a:prstGeom>
          <a:noFill/>
        </p:spPr>
        <p:txBody>
          <a:bodyPr wrap="none">
            <a:spAutoFit/>
          </a:bodyPr>
          <a:lstStyle/>
          <a:p>
            <a:pPr algn="r"/>
            <a:r>
              <a:rPr sz="900">
                <a:solidFill>
                  <a:srgbClr val="69706D"/>
                </a:solidFill>
              </a:rPr>
              <a:t>6</a:t>
            </a:r>
          </a:p>
        </p:txBody>
      </p:sp>
      <p:cxnSp>
        <p:nvCxnSpPr>
          <p:cNvPr id="17" name="Connecteur droit avec flèche 16">
            <a:extLst>
              <a:ext uri="{FF2B5EF4-FFF2-40B4-BE49-F238E27FC236}">
                <a16:creationId xmlns:a16="http://schemas.microsoft.com/office/drawing/2014/main" id="{67FA01F8-2D8F-98B5-1120-8D9FE5C20F36}"/>
              </a:ext>
            </a:extLst>
          </p:cNvPr>
          <p:cNvCxnSpPr>
            <a:cxnSpLocks/>
          </p:cNvCxnSpPr>
          <p:nvPr/>
        </p:nvCxnSpPr>
        <p:spPr>
          <a:xfrm>
            <a:off x="10150336" y="3302841"/>
            <a:ext cx="548309" cy="252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Image 19">
            <a:extLst>
              <a:ext uri="{FF2B5EF4-FFF2-40B4-BE49-F238E27FC236}">
                <a16:creationId xmlns:a16="http://schemas.microsoft.com/office/drawing/2014/main" id="{57CAC230-2B89-8847-B4A0-518132B2F6A7}"/>
              </a:ext>
            </a:extLst>
          </p:cNvPr>
          <p:cNvPicPr>
            <a:picLocks noChangeAspect="1"/>
          </p:cNvPicPr>
          <p:nvPr/>
        </p:nvPicPr>
        <p:blipFill>
          <a:blip r:embed="rId3"/>
          <a:stretch>
            <a:fillRect/>
          </a:stretch>
        </p:blipFill>
        <p:spPr>
          <a:xfrm>
            <a:off x="594359" y="4281851"/>
            <a:ext cx="10972799" cy="2459911"/>
          </a:xfrm>
          <a:prstGeom prst="rect">
            <a:avLst/>
          </a:prstGeom>
        </p:spPr>
      </p:pic>
      <p:pic>
        <p:nvPicPr>
          <p:cNvPr id="22" name="Image 21">
            <a:extLst>
              <a:ext uri="{FF2B5EF4-FFF2-40B4-BE49-F238E27FC236}">
                <a16:creationId xmlns:a16="http://schemas.microsoft.com/office/drawing/2014/main" id="{22CC2D07-074E-2DF1-2D0F-8FE19DD6C5A3}"/>
              </a:ext>
            </a:extLst>
          </p:cNvPr>
          <p:cNvPicPr>
            <a:picLocks noChangeAspect="1"/>
          </p:cNvPicPr>
          <p:nvPr/>
        </p:nvPicPr>
        <p:blipFill>
          <a:blip r:embed="rId4"/>
          <a:stretch>
            <a:fillRect/>
          </a:stretch>
        </p:blipFill>
        <p:spPr>
          <a:xfrm>
            <a:off x="-15240" y="1"/>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089" y="-292608"/>
            <a:ext cx="12537977" cy="7150608"/>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  </a:t>
            </a:r>
            <a:endParaRPr dirty="0"/>
          </a:p>
        </p:txBody>
      </p:sp>
      <p:sp>
        <p:nvSpPr>
          <p:cNvPr id="3" name="TextBox 2"/>
          <p:cNvSpPr txBox="1"/>
          <p:nvPr/>
        </p:nvSpPr>
        <p:spPr>
          <a:xfrm>
            <a:off x="731520" y="292608"/>
            <a:ext cx="10652760" cy="492443"/>
          </a:xfrm>
          <a:prstGeom prst="rect">
            <a:avLst/>
          </a:prstGeom>
          <a:noFill/>
        </p:spPr>
        <p:txBody>
          <a:bodyPr wrap="square">
            <a:spAutoFit/>
          </a:bodyPr>
          <a:lstStyle/>
          <a:p>
            <a:pPr algn="ctr"/>
            <a:r>
              <a:rPr lang="fr-FR" sz="2600" b="1" dirty="0">
                <a:solidFill>
                  <a:schemeClr val="accent1"/>
                </a:solidFill>
                <a:latin typeface="Times New Roman" panose="02020603050405020304" pitchFamily="18" charset="0"/>
                <a:cs typeface="Times New Roman" panose="02020603050405020304" pitchFamily="18" charset="0"/>
              </a:rPr>
              <a:t>6/11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Analyse</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géographique</a:t>
            </a:r>
            <a:r>
              <a:rPr sz="2600" b="1" dirty="0">
                <a:solidFill>
                  <a:schemeClr val="accent1"/>
                </a:solidFill>
                <a:latin typeface="Times New Roman" panose="02020603050405020304" pitchFamily="18" charset="0"/>
                <a:cs typeface="Times New Roman" panose="02020603050405020304" pitchFamily="18" charset="0"/>
              </a:rPr>
              <a:t> et </a:t>
            </a:r>
            <a:r>
              <a:rPr lang="fr-FR" sz="2600" b="1" dirty="0">
                <a:solidFill>
                  <a:schemeClr val="accent1"/>
                </a:solidFill>
                <a:latin typeface="Times New Roman" panose="02020603050405020304" pitchFamily="18" charset="0"/>
                <a:cs typeface="Times New Roman" panose="02020603050405020304" pitchFamily="18" charset="0"/>
              </a:rPr>
              <a:t>profil des usagers</a:t>
            </a:r>
            <a:endParaRPr sz="2600" b="1" dirty="0">
              <a:solidFill>
                <a:schemeClr val="accent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731520" y="1234440"/>
            <a:ext cx="2926080" cy="109728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09821" y="1344168"/>
            <a:ext cx="2188934"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138 248</a:t>
            </a:r>
          </a:p>
          <a:p>
            <a:pPr algn="ctr"/>
            <a:r>
              <a:rPr sz="2000" b="1" dirty="0" err="1">
                <a:solidFill>
                  <a:schemeClr val="accent1"/>
                </a:solidFill>
                <a:latin typeface="Times New Roman" panose="02020603050405020304" pitchFamily="18" charset="0"/>
                <a:cs typeface="Times New Roman" panose="02020603050405020304" pitchFamily="18" charset="0"/>
              </a:rPr>
              <a:t>Voies</a:t>
            </a:r>
            <a:r>
              <a:rPr sz="2000" b="1" dirty="0">
                <a:solidFill>
                  <a:schemeClr val="accent1"/>
                </a:solidFill>
                <a:latin typeface="Times New Roman" panose="02020603050405020304" pitchFamily="18" charset="0"/>
                <a:cs typeface="Times New Roman" panose="02020603050405020304" pitchFamily="18" charset="0"/>
              </a:rPr>
              <a:t> </a:t>
            </a:r>
            <a:r>
              <a:rPr sz="2000" b="1" dirty="0" err="1">
                <a:solidFill>
                  <a:schemeClr val="accent1"/>
                </a:solidFill>
                <a:latin typeface="Times New Roman" panose="02020603050405020304" pitchFamily="18" charset="0"/>
                <a:cs typeface="Times New Roman" panose="02020603050405020304" pitchFamily="18" charset="0"/>
              </a:rPr>
              <a:t>communales</a:t>
            </a:r>
            <a:endParaRPr sz="2000" b="1" dirty="0">
              <a:solidFill>
                <a:schemeClr val="accent1"/>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a:off x="3794760" y="1234440"/>
            <a:ext cx="2926080" cy="109728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52608" y="1344168"/>
            <a:ext cx="2810386"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122 714</a:t>
            </a:r>
          </a:p>
          <a:p>
            <a:pPr algn="ctr"/>
            <a:r>
              <a:rPr sz="2000" b="1" dirty="0">
                <a:solidFill>
                  <a:schemeClr val="accent1"/>
                </a:solidFill>
                <a:latin typeface="Times New Roman" panose="02020603050405020304" pitchFamily="18" charset="0"/>
                <a:cs typeface="Times New Roman" panose="02020603050405020304" pitchFamily="18" charset="0"/>
              </a:rPr>
              <a:t>Routes </a:t>
            </a:r>
            <a:r>
              <a:rPr sz="2000" b="1" dirty="0" err="1">
                <a:solidFill>
                  <a:schemeClr val="accent1"/>
                </a:solidFill>
                <a:latin typeface="Times New Roman" panose="02020603050405020304" pitchFamily="18" charset="0"/>
                <a:cs typeface="Times New Roman" panose="02020603050405020304" pitchFamily="18" charset="0"/>
              </a:rPr>
              <a:t>départementales</a:t>
            </a:r>
            <a:endParaRPr sz="2000" b="1" dirty="0">
              <a:solidFill>
                <a:schemeClr val="accent1"/>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6858000" y="1234440"/>
            <a:ext cx="2194560" cy="109728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52908" y="1344168"/>
            <a:ext cx="1404745"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30 949</a:t>
            </a:r>
          </a:p>
          <a:p>
            <a:pPr algn="ctr"/>
            <a:r>
              <a:rPr sz="2000" b="1" dirty="0">
                <a:solidFill>
                  <a:schemeClr val="accent1"/>
                </a:solidFill>
                <a:latin typeface="Times New Roman" panose="02020603050405020304" pitchFamily="18" charset="0"/>
                <a:cs typeface="Times New Roman" panose="02020603050405020304" pitchFamily="18" charset="0"/>
              </a:rPr>
              <a:t>Autoroutes</a:t>
            </a:r>
          </a:p>
        </p:txBody>
      </p:sp>
      <p:sp>
        <p:nvSpPr>
          <p:cNvPr id="10" name="Rounded Rectangle 9"/>
          <p:cNvSpPr/>
          <p:nvPr/>
        </p:nvSpPr>
        <p:spPr>
          <a:xfrm>
            <a:off x="9189720" y="1234440"/>
            <a:ext cx="2194560" cy="1097280"/>
          </a:xfrm>
          <a:prstGeom prst="roundRect">
            <a:avLst/>
          </a:prstGeom>
          <a:solidFill>
            <a:srgbClr val="FFFFFF"/>
          </a:solidFill>
          <a:ln>
            <a:solidFill>
              <a:srgbClr val="DBE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0461" y="1344168"/>
            <a:ext cx="2113079" cy="707886"/>
          </a:xfrm>
          <a:prstGeom prst="rect">
            <a:avLst/>
          </a:prstGeom>
          <a:noFill/>
        </p:spPr>
        <p:txBody>
          <a:bodyPr wrap="none">
            <a:spAutoFit/>
          </a:bodyPr>
          <a:lstStyle/>
          <a:p>
            <a:pPr algn="ctr"/>
            <a:r>
              <a:rPr sz="2000" b="1" dirty="0">
                <a:solidFill>
                  <a:schemeClr val="accent1"/>
                </a:solidFill>
                <a:latin typeface="Times New Roman" panose="02020603050405020304" pitchFamily="18" charset="0"/>
                <a:cs typeface="Times New Roman" panose="02020603050405020304" pitchFamily="18" charset="0"/>
              </a:rPr>
              <a:t>21 134</a:t>
            </a:r>
          </a:p>
          <a:p>
            <a:pPr algn="ctr"/>
            <a:r>
              <a:rPr sz="2000" b="1" dirty="0">
                <a:solidFill>
                  <a:schemeClr val="accent1"/>
                </a:solidFill>
                <a:latin typeface="Times New Roman" panose="02020603050405020304" pitchFamily="18" charset="0"/>
                <a:cs typeface="Times New Roman" panose="02020603050405020304" pitchFamily="18" charset="0"/>
              </a:rPr>
              <a:t>Routes </a:t>
            </a:r>
            <a:r>
              <a:rPr sz="2000" b="1" dirty="0" err="1">
                <a:solidFill>
                  <a:schemeClr val="accent1"/>
                </a:solidFill>
                <a:latin typeface="Times New Roman" panose="02020603050405020304" pitchFamily="18" charset="0"/>
                <a:cs typeface="Times New Roman" panose="02020603050405020304" pitchFamily="18" charset="0"/>
              </a:rPr>
              <a:t>nationales</a:t>
            </a:r>
            <a:endParaRPr sz="2000" b="1" dirty="0">
              <a:solidFill>
                <a:schemeClr val="accent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0972800" y="6446520"/>
            <a:ext cx="457200" cy="182880"/>
          </a:xfrm>
          <a:prstGeom prst="rect">
            <a:avLst/>
          </a:prstGeom>
          <a:noFill/>
        </p:spPr>
        <p:txBody>
          <a:bodyPr wrap="none">
            <a:spAutoFit/>
          </a:bodyPr>
          <a:lstStyle/>
          <a:p>
            <a:pPr algn="r"/>
            <a:r>
              <a:rPr sz="900">
                <a:solidFill>
                  <a:srgbClr val="69706D"/>
                </a:solidFill>
              </a:rPr>
              <a:t>8</a:t>
            </a:r>
          </a:p>
        </p:txBody>
      </p:sp>
      <p:pic>
        <p:nvPicPr>
          <p:cNvPr id="21" name="Image 20">
            <a:extLst>
              <a:ext uri="{FF2B5EF4-FFF2-40B4-BE49-F238E27FC236}">
                <a16:creationId xmlns:a16="http://schemas.microsoft.com/office/drawing/2014/main" id="{8E278728-FCAF-2D34-5A67-1D1338605B10}"/>
              </a:ext>
            </a:extLst>
          </p:cNvPr>
          <p:cNvPicPr>
            <a:picLocks noChangeAspect="1"/>
          </p:cNvPicPr>
          <p:nvPr/>
        </p:nvPicPr>
        <p:blipFill>
          <a:blip r:embed="rId3"/>
          <a:stretch>
            <a:fillRect/>
          </a:stretch>
        </p:blipFill>
        <p:spPr>
          <a:xfrm>
            <a:off x="-172988" y="2441448"/>
            <a:ext cx="12537976" cy="4416552"/>
          </a:xfrm>
          <a:prstGeom prst="rect">
            <a:avLst/>
          </a:prstGeom>
        </p:spPr>
      </p:pic>
      <p:pic>
        <p:nvPicPr>
          <p:cNvPr id="23" name="Image 22">
            <a:extLst>
              <a:ext uri="{FF2B5EF4-FFF2-40B4-BE49-F238E27FC236}">
                <a16:creationId xmlns:a16="http://schemas.microsoft.com/office/drawing/2014/main" id="{EF7A0B96-33F0-753D-7208-784102851B8F}"/>
              </a:ext>
            </a:extLst>
          </p:cNvPr>
          <p:cNvPicPr>
            <a:picLocks noChangeAspect="1"/>
          </p:cNvPicPr>
          <p:nvPr/>
        </p:nvPicPr>
        <p:blipFill>
          <a:blip r:embed="rId4"/>
          <a:stretch>
            <a:fillRect/>
          </a:stretch>
        </p:blipFill>
        <p:spPr>
          <a:xfrm>
            <a:off x="-211089" y="-292608"/>
            <a:ext cx="12576077" cy="71506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59" y="292608"/>
            <a:ext cx="10951877" cy="492443"/>
          </a:xfrm>
          <a:prstGeom prst="rect">
            <a:avLst/>
          </a:prstGeom>
          <a:noFill/>
        </p:spPr>
        <p:txBody>
          <a:bodyPr wrap="square">
            <a:spAutoFit/>
          </a:bodyPr>
          <a:lstStyle/>
          <a:p>
            <a:pPr algn="ctr"/>
            <a:r>
              <a:rPr lang="fr-FR" sz="2600" b="1" dirty="0">
                <a:solidFill>
                  <a:schemeClr val="accent1"/>
                </a:solidFill>
                <a:latin typeface="Times New Roman" panose="02020603050405020304" pitchFamily="18" charset="0"/>
                <a:cs typeface="Times New Roman" panose="02020603050405020304" pitchFamily="18" charset="0"/>
              </a:rPr>
              <a:t>7/11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Facteurs</a:t>
            </a:r>
            <a:r>
              <a:rPr sz="2600" b="1" dirty="0">
                <a:solidFill>
                  <a:schemeClr val="accent1"/>
                </a:solidFill>
                <a:latin typeface="Times New Roman" panose="02020603050405020304" pitchFamily="18" charset="0"/>
                <a:cs typeface="Times New Roman" panose="02020603050405020304" pitchFamily="18" charset="0"/>
              </a:rPr>
              <a:t> et </a:t>
            </a:r>
            <a:r>
              <a:rPr sz="2600" b="1" dirty="0" err="1">
                <a:solidFill>
                  <a:schemeClr val="accent1"/>
                </a:solidFill>
                <a:latin typeface="Times New Roman" panose="02020603050405020304" pitchFamily="18" charset="0"/>
                <a:cs typeface="Times New Roman" panose="02020603050405020304" pitchFamily="18" charset="0"/>
              </a:rPr>
              <a:t>circonstances</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associés</a:t>
            </a:r>
            <a:r>
              <a:rPr sz="2600" b="1" dirty="0">
                <a:solidFill>
                  <a:schemeClr val="accent1"/>
                </a:solidFill>
                <a:latin typeface="Times New Roman" panose="02020603050405020304" pitchFamily="18" charset="0"/>
                <a:cs typeface="Times New Roman" panose="02020603050405020304" pitchFamily="18" charset="0"/>
              </a:rPr>
              <a:t> aux accidents</a:t>
            </a:r>
          </a:p>
        </p:txBody>
      </p:sp>
      <p:sp>
        <p:nvSpPr>
          <p:cNvPr id="4" name="TextBox 3"/>
          <p:cNvSpPr txBox="1"/>
          <p:nvPr/>
        </p:nvSpPr>
        <p:spPr>
          <a:xfrm>
            <a:off x="777240" y="1353312"/>
            <a:ext cx="2818367" cy="1272143"/>
          </a:xfrm>
          <a:prstGeom prst="rect">
            <a:avLst/>
          </a:prstGeom>
          <a:noFill/>
        </p:spPr>
        <p:txBody>
          <a:bodyPr wrap="square">
            <a:spAutoFit/>
          </a:bodyPr>
          <a:lstStyle/>
          <a:p>
            <a:pPr>
              <a:spcAft>
                <a:spcPts val="1000"/>
              </a:spcAft>
              <a:defRPr sz="1800">
                <a:solidFill>
                  <a:srgbClr val="2C312F"/>
                </a:solidFill>
              </a:defRPr>
            </a:pPr>
            <a:endParaRPr lang="fr-FR" sz="2000" dirty="0"/>
          </a:p>
          <a:p>
            <a:pPr>
              <a:spcAft>
                <a:spcPts val="1000"/>
              </a:spcAft>
              <a:defRPr sz="1800">
                <a:solidFill>
                  <a:srgbClr val="2C312F"/>
                </a:solidFill>
              </a:defRPr>
            </a:pPr>
            <a:endParaRPr lang="fr-FR" sz="2000" dirty="0"/>
          </a:p>
          <a:p>
            <a:pPr>
              <a:spcAft>
                <a:spcPts val="1000"/>
              </a:spcAft>
              <a:defRPr sz="1800">
                <a:solidFill>
                  <a:srgbClr val="2C312F"/>
                </a:solidFill>
              </a:defRPr>
            </a:pPr>
            <a:endParaRPr lang="fr-FR" sz="2000" dirty="0"/>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9</a:t>
            </a:r>
          </a:p>
        </p:txBody>
      </p:sp>
      <p:pic>
        <p:nvPicPr>
          <p:cNvPr id="13" name="Image 12">
            <a:extLst>
              <a:ext uri="{FF2B5EF4-FFF2-40B4-BE49-F238E27FC236}">
                <a16:creationId xmlns:a16="http://schemas.microsoft.com/office/drawing/2014/main" id="{D5BBE050-A708-A6DE-365A-F836FA4FC00E}"/>
              </a:ext>
            </a:extLst>
          </p:cNvPr>
          <p:cNvPicPr>
            <a:picLocks noChangeAspect="1"/>
          </p:cNvPicPr>
          <p:nvPr/>
        </p:nvPicPr>
        <p:blipFill>
          <a:blip r:embed="rId3"/>
          <a:stretch>
            <a:fillRect/>
          </a:stretch>
        </p:blipFill>
        <p:spPr>
          <a:xfrm>
            <a:off x="0" y="1101462"/>
            <a:ext cx="12191695" cy="5756538"/>
          </a:xfrm>
          <a:prstGeom prst="rect">
            <a:avLst/>
          </a:prstGeom>
        </p:spPr>
      </p:pic>
      <p:pic>
        <p:nvPicPr>
          <p:cNvPr id="15" name="Image 14">
            <a:extLst>
              <a:ext uri="{FF2B5EF4-FFF2-40B4-BE49-F238E27FC236}">
                <a16:creationId xmlns:a16="http://schemas.microsoft.com/office/drawing/2014/main" id="{876734C2-63F7-1374-662F-A078853DFD4B}"/>
              </a:ext>
            </a:extLst>
          </p:cNvPr>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28600"/>
            <a:ext cx="10835640" cy="492443"/>
          </a:xfrm>
          <a:prstGeom prst="rect">
            <a:avLst/>
          </a:prstGeom>
          <a:noFill/>
        </p:spPr>
        <p:txBody>
          <a:bodyPr wrap="square">
            <a:spAutoFit/>
          </a:bodyPr>
          <a:lstStyle/>
          <a:p>
            <a:pPr algn="ctr"/>
            <a:r>
              <a:rPr lang="fr-FR" sz="2600" b="1" dirty="0">
                <a:solidFill>
                  <a:schemeClr val="accent1"/>
                </a:solidFill>
                <a:latin typeface="Times New Roman" panose="02020603050405020304" pitchFamily="18" charset="0"/>
                <a:cs typeface="Times New Roman" panose="02020603050405020304" pitchFamily="18" charset="0"/>
              </a:rPr>
              <a:t>8/11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Modélisation</a:t>
            </a:r>
            <a:r>
              <a:rPr sz="2600" b="1" dirty="0">
                <a:solidFill>
                  <a:schemeClr val="accent1"/>
                </a:solidFill>
                <a:latin typeface="Times New Roman" panose="02020603050405020304" pitchFamily="18" charset="0"/>
                <a:cs typeface="Times New Roman" panose="02020603050405020304" pitchFamily="18" charset="0"/>
              </a:rPr>
              <a:t> </a:t>
            </a:r>
            <a:r>
              <a:rPr lang="fr-FR" sz="2600" b="1" dirty="0">
                <a:solidFill>
                  <a:schemeClr val="accent1"/>
                </a:solidFill>
                <a:latin typeface="Times New Roman" panose="02020603050405020304" pitchFamily="18" charset="0"/>
                <a:cs typeface="Times New Roman" panose="02020603050405020304" pitchFamily="18" charset="0"/>
              </a:rPr>
              <a:t>-</a:t>
            </a:r>
            <a:r>
              <a:rPr sz="2600" b="1" dirty="0">
                <a:solidFill>
                  <a:schemeClr val="accent1"/>
                </a:solidFill>
                <a:latin typeface="Times New Roman" panose="02020603050405020304" pitchFamily="18" charset="0"/>
                <a:cs typeface="Times New Roman" panose="02020603050405020304" pitchFamily="18" charset="0"/>
              </a:rPr>
              <a:t> Random Forest</a:t>
            </a: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11</a:t>
            </a:r>
          </a:p>
        </p:txBody>
      </p:sp>
      <p:pic>
        <p:nvPicPr>
          <p:cNvPr id="7" name="Image 6">
            <a:extLst>
              <a:ext uri="{FF2B5EF4-FFF2-40B4-BE49-F238E27FC236}">
                <a16:creationId xmlns:a16="http://schemas.microsoft.com/office/drawing/2014/main" id="{2F8FA7D7-D4B9-F09A-E900-8CA33227962F}"/>
              </a:ext>
            </a:extLst>
          </p:cNvPr>
          <p:cNvPicPr>
            <a:picLocks noChangeAspect="1"/>
          </p:cNvPicPr>
          <p:nvPr/>
        </p:nvPicPr>
        <p:blipFill>
          <a:blip r:embed="rId3"/>
          <a:stretch>
            <a:fillRect/>
          </a:stretch>
        </p:blipFill>
        <p:spPr>
          <a:xfrm>
            <a:off x="371959" y="1281112"/>
            <a:ext cx="11484243" cy="5348288"/>
          </a:xfrm>
          <a:prstGeom prst="rect">
            <a:avLst/>
          </a:prstGeom>
        </p:spPr>
      </p:pic>
      <p:pic>
        <p:nvPicPr>
          <p:cNvPr id="9" name="Image 8">
            <a:extLst>
              <a:ext uri="{FF2B5EF4-FFF2-40B4-BE49-F238E27FC236}">
                <a16:creationId xmlns:a16="http://schemas.microsoft.com/office/drawing/2014/main" id="{E8D25B00-42E6-1AF2-1DA9-5B9DEC6AC7B4}"/>
              </a:ext>
            </a:extLst>
          </p:cNvPr>
          <p:cNvPicPr>
            <a:picLocks noChangeAspect="1"/>
          </p:cNvPicPr>
          <p:nvPr/>
        </p:nvPicPr>
        <p:blipFill>
          <a:blip r:embed="rId4"/>
          <a:stretch>
            <a:fillRect/>
          </a:stretch>
        </p:blipFill>
        <p:spPr>
          <a:xfrm>
            <a:off x="0" y="0"/>
            <a:ext cx="12191999"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835640" cy="492443"/>
          </a:xfrm>
          <a:prstGeom prst="rect">
            <a:avLst/>
          </a:prstGeom>
          <a:noFill/>
        </p:spPr>
        <p:txBody>
          <a:bodyPr wrap="square">
            <a:spAutoFit/>
          </a:bodyPr>
          <a:lstStyle/>
          <a:p>
            <a:pPr algn="ctr"/>
            <a:r>
              <a:rPr lang="fr-FR" sz="2600" b="1" dirty="0">
                <a:solidFill>
                  <a:schemeClr val="accent1"/>
                </a:solidFill>
              </a:rPr>
              <a:t>9/11</a:t>
            </a:r>
            <a:r>
              <a:rPr sz="2600" b="1" dirty="0">
                <a:solidFill>
                  <a:schemeClr val="accent1"/>
                </a:solidFill>
              </a:rPr>
              <a:t>. </a:t>
            </a:r>
            <a:r>
              <a:rPr sz="2600" b="1" dirty="0" err="1">
                <a:solidFill>
                  <a:schemeClr val="accent1"/>
                </a:solidFill>
              </a:rPr>
              <a:t>Recommandations</a:t>
            </a:r>
            <a:r>
              <a:rPr sz="2600" b="1" dirty="0">
                <a:solidFill>
                  <a:schemeClr val="accent1"/>
                </a:solidFill>
              </a:rPr>
              <a:t> </a:t>
            </a:r>
            <a:r>
              <a:rPr sz="2600" b="1" dirty="0" err="1">
                <a:solidFill>
                  <a:schemeClr val="accent1"/>
                </a:solidFill>
              </a:rPr>
              <a:t>opérationnelles</a:t>
            </a:r>
            <a:endParaRPr sz="2600" b="1" dirty="0">
              <a:solidFill>
                <a:schemeClr val="accent1"/>
              </a:solidFill>
            </a:endParaRPr>
          </a:p>
        </p:txBody>
      </p:sp>
      <p:sp>
        <p:nvSpPr>
          <p:cNvPr id="4" name="TextBox 3"/>
          <p:cNvSpPr txBox="1"/>
          <p:nvPr/>
        </p:nvSpPr>
        <p:spPr>
          <a:xfrm>
            <a:off x="815187" y="1371361"/>
            <a:ext cx="10561320" cy="4324261"/>
          </a:xfrm>
          <a:prstGeom prst="rect">
            <a:avLst/>
          </a:prstGeom>
          <a:noFill/>
        </p:spPr>
        <p:txBody>
          <a:bodyPr wrap="square">
            <a:spAutoFit/>
          </a:bodyPr>
          <a:lstStyle/>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Renforcer les contrôles routiers aux périodes les plus accidentogènes</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Améliorer la sécurité des routes départementales et des voies communales</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Renforcer les mesures de prévention sur les axes à vitesse élevée</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Développer des actions de sensibilisation ciblées auprès des conducteurs de voitures particulières</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Mettre en place des campagnes de prévention spécifiques destinées aux hommes</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Renforcer la protection des usagers les plus vulnérable</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Poursuivre les campagnes nationales de sensibilisation à la sécurité routière</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Exploiter les données et l'intelligence artificielle pour anticiper les zones et périodes à risque</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Améliorer la collecte et la qualité des données d'accidents</a:t>
            </a:r>
          </a:p>
          <a:p>
            <a:pPr marL="342900" indent="-342900">
              <a:spcAft>
                <a:spcPts val="1000"/>
              </a:spcAft>
              <a:buFont typeface="Wingdings" panose="05000000000000000000" pitchFamily="2" charset="2"/>
              <a:buChar char="ü"/>
              <a:defRPr sz="16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Développer des modèles de prédiction plus robustes</a:t>
            </a:r>
            <a:endParaRPr sz="2000"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13</a:t>
            </a:r>
          </a:p>
        </p:txBody>
      </p:sp>
      <p:pic>
        <p:nvPicPr>
          <p:cNvPr id="7" name="Image 6">
            <a:extLst>
              <a:ext uri="{FF2B5EF4-FFF2-40B4-BE49-F238E27FC236}">
                <a16:creationId xmlns:a16="http://schemas.microsoft.com/office/drawing/2014/main" id="{3B66E9D6-BA09-EC6E-3495-24DF26EFDD49}"/>
              </a:ext>
            </a:extLst>
          </p:cNvPr>
          <p:cNvPicPr>
            <a:picLocks noChangeAspect="1"/>
          </p:cNvPicPr>
          <p:nvPr/>
        </p:nvPicPr>
        <p:blipFill>
          <a:blip r:embed="rId3"/>
          <a:stretch>
            <a:fillRect/>
          </a:stretch>
        </p:blipFill>
        <p:spPr>
          <a:xfrm>
            <a:off x="1" y="0"/>
            <a:ext cx="12191694"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56768" y="292608"/>
            <a:ext cx="3647986" cy="492443"/>
          </a:xfrm>
          <a:prstGeom prst="rect">
            <a:avLst/>
          </a:prstGeom>
          <a:noFill/>
        </p:spPr>
        <p:txBody>
          <a:bodyPr wrap="none">
            <a:spAutoFit/>
          </a:bodyPr>
          <a:lstStyle/>
          <a:p>
            <a:pPr algn="ctr"/>
            <a:r>
              <a:rPr sz="2600" b="1" dirty="0">
                <a:solidFill>
                  <a:schemeClr val="accent1"/>
                </a:solidFill>
                <a:latin typeface="Times New Roman" panose="02020603050405020304" pitchFamily="18" charset="0"/>
                <a:cs typeface="Times New Roman" panose="02020603050405020304" pitchFamily="18" charset="0"/>
              </a:rPr>
              <a:t>1</a:t>
            </a:r>
            <a:r>
              <a:rPr lang="fr-FR" sz="2600" b="1" dirty="0">
                <a:solidFill>
                  <a:schemeClr val="accent1"/>
                </a:solidFill>
                <a:latin typeface="Times New Roman" panose="02020603050405020304" pitchFamily="18" charset="0"/>
                <a:cs typeface="Times New Roman" panose="02020603050405020304" pitchFamily="18" charset="0"/>
              </a:rPr>
              <a:t>0/11</a:t>
            </a:r>
            <a:r>
              <a:rPr sz="2600" b="1" dirty="0">
                <a:solidFill>
                  <a:schemeClr val="accent1"/>
                </a:solidFill>
                <a:latin typeface="Times New Roman" panose="02020603050405020304" pitchFamily="18" charset="0"/>
                <a:cs typeface="Times New Roman" panose="02020603050405020304" pitchFamily="18" charset="0"/>
              </a:rPr>
              <a:t>. </a:t>
            </a:r>
            <a:r>
              <a:rPr sz="2600" b="1" dirty="0" err="1">
                <a:solidFill>
                  <a:schemeClr val="accent1"/>
                </a:solidFill>
                <a:latin typeface="Times New Roman" panose="02020603050405020304" pitchFamily="18" charset="0"/>
                <a:cs typeface="Times New Roman" panose="02020603050405020304" pitchFamily="18" charset="0"/>
              </a:rPr>
              <a:t>Limites</a:t>
            </a:r>
            <a:r>
              <a:rPr sz="2600" b="1" dirty="0">
                <a:solidFill>
                  <a:schemeClr val="accent1"/>
                </a:solidFill>
                <a:latin typeface="Times New Roman" panose="02020603050405020304" pitchFamily="18" charset="0"/>
                <a:cs typeface="Times New Roman" panose="02020603050405020304" pitchFamily="18" charset="0"/>
              </a:rPr>
              <a:t> de </a:t>
            </a:r>
            <a:r>
              <a:rPr sz="2600" b="1" dirty="0" err="1">
                <a:solidFill>
                  <a:schemeClr val="accent1"/>
                </a:solidFill>
                <a:latin typeface="Times New Roman" panose="02020603050405020304" pitchFamily="18" charset="0"/>
                <a:cs typeface="Times New Roman" panose="02020603050405020304" pitchFamily="18" charset="0"/>
              </a:rPr>
              <a:t>l’étude</a:t>
            </a:r>
            <a:endParaRPr sz="2600" b="1" dirty="0">
              <a:solidFill>
                <a:schemeClr val="accent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777240" y="1353312"/>
            <a:ext cx="10561320" cy="2144177"/>
          </a:xfrm>
          <a:prstGeom prst="rect">
            <a:avLst/>
          </a:prstGeom>
          <a:noFill/>
        </p:spPr>
        <p:txBody>
          <a:bodyPr wrap="square">
            <a:spAutoFit/>
          </a:bodyPr>
          <a:lstStyle/>
          <a:p>
            <a:pPr marL="342900" indent="-342900" algn="ctr">
              <a:spcAft>
                <a:spcPts val="1000"/>
              </a:spcAft>
              <a:buFont typeface="Wingdings" panose="05000000000000000000" pitchFamily="2" charset="2"/>
              <a:buChar char="ü"/>
              <a:defRPr sz="1600">
                <a:solidFill>
                  <a:srgbClr val="2C312F"/>
                </a:solidFill>
              </a:defRPr>
            </a:pPr>
            <a:r>
              <a:rPr lang="fr-FR" sz="2000" b="1" dirty="0">
                <a:solidFill>
                  <a:schemeClr val="accent1"/>
                </a:solidFill>
              </a:rPr>
              <a:t>Qualité des données </a:t>
            </a:r>
          </a:p>
          <a:p>
            <a:pPr algn="ctr">
              <a:spcAft>
                <a:spcPts val="1000"/>
              </a:spcAft>
              <a:defRPr sz="1600">
                <a:solidFill>
                  <a:srgbClr val="2C312F"/>
                </a:solidFill>
              </a:defRPr>
            </a:pPr>
            <a:endParaRPr lang="fr-FR" sz="2000" b="1" dirty="0">
              <a:solidFill>
                <a:schemeClr val="accent1"/>
              </a:solidFill>
            </a:endParaRPr>
          </a:p>
          <a:p>
            <a:pPr marL="342900" indent="-342900" algn="ctr">
              <a:spcAft>
                <a:spcPts val="1000"/>
              </a:spcAft>
              <a:buFont typeface="Wingdings" panose="05000000000000000000" pitchFamily="2" charset="2"/>
              <a:buChar char="ü"/>
              <a:defRPr sz="1600">
                <a:solidFill>
                  <a:srgbClr val="2C312F"/>
                </a:solidFill>
              </a:defRPr>
            </a:pPr>
            <a:r>
              <a:rPr lang="fr-FR" sz="2000" b="1" dirty="0">
                <a:solidFill>
                  <a:schemeClr val="accent1"/>
                </a:solidFill>
              </a:rPr>
              <a:t>Période et méthode </a:t>
            </a:r>
          </a:p>
          <a:p>
            <a:pPr algn="ctr">
              <a:spcAft>
                <a:spcPts val="1000"/>
              </a:spcAft>
              <a:defRPr sz="1600">
                <a:solidFill>
                  <a:srgbClr val="2C312F"/>
                </a:solidFill>
              </a:defRPr>
            </a:pPr>
            <a:endParaRPr lang="fr-FR" sz="2000" b="1" dirty="0">
              <a:solidFill>
                <a:schemeClr val="accent1"/>
              </a:solidFill>
            </a:endParaRPr>
          </a:p>
          <a:p>
            <a:pPr marL="342900" indent="-342900" algn="ctr">
              <a:spcAft>
                <a:spcPts val="1000"/>
              </a:spcAft>
              <a:buFont typeface="Wingdings" panose="05000000000000000000" pitchFamily="2" charset="2"/>
              <a:buChar char="ü"/>
              <a:defRPr sz="1600">
                <a:solidFill>
                  <a:srgbClr val="2C312F"/>
                </a:solidFill>
              </a:defRPr>
            </a:pPr>
            <a:r>
              <a:rPr lang="fr-FR" sz="2000" b="1" dirty="0">
                <a:solidFill>
                  <a:schemeClr val="accent1"/>
                </a:solidFill>
              </a:rPr>
              <a:t>Mesure du risque limitée </a:t>
            </a: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14</a:t>
            </a:r>
          </a:p>
        </p:txBody>
      </p:sp>
      <p:pic>
        <p:nvPicPr>
          <p:cNvPr id="7" name="Image 6">
            <a:extLst>
              <a:ext uri="{FF2B5EF4-FFF2-40B4-BE49-F238E27FC236}">
                <a16:creationId xmlns:a16="http://schemas.microsoft.com/office/drawing/2014/main" id="{ED22890C-16DD-6CB1-DBBA-0293451A93A1}"/>
              </a:ext>
            </a:extLst>
          </p:cNvPr>
          <p:cNvPicPr>
            <a:picLocks noChangeAspect="1"/>
          </p:cNvPicPr>
          <p:nvPr/>
        </p:nvPicPr>
        <p:blipFill>
          <a:blip r:embed="rId3"/>
          <a:stretch>
            <a:fillRect/>
          </a:stretch>
        </p:blipFill>
        <p:spPr>
          <a:xfrm>
            <a:off x="-1" y="1"/>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CE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92608"/>
            <a:ext cx="10561320" cy="492443"/>
          </a:xfrm>
          <a:prstGeom prst="rect">
            <a:avLst/>
          </a:prstGeom>
          <a:noFill/>
        </p:spPr>
        <p:txBody>
          <a:bodyPr wrap="square">
            <a:spAutoFit/>
          </a:bodyPr>
          <a:lstStyle/>
          <a:p>
            <a:pPr algn="ctr"/>
            <a:r>
              <a:rPr sz="2600" b="1" dirty="0">
                <a:solidFill>
                  <a:schemeClr val="accent1"/>
                </a:solidFill>
              </a:rPr>
              <a:t>1</a:t>
            </a:r>
            <a:r>
              <a:rPr lang="fr-FR" sz="2600" b="1" dirty="0">
                <a:solidFill>
                  <a:schemeClr val="accent1"/>
                </a:solidFill>
              </a:rPr>
              <a:t>1/11</a:t>
            </a:r>
            <a:r>
              <a:rPr sz="2600" b="1" dirty="0">
                <a:solidFill>
                  <a:schemeClr val="accent1"/>
                </a:solidFill>
              </a:rPr>
              <a:t>. Conclusion</a:t>
            </a:r>
          </a:p>
        </p:txBody>
      </p:sp>
      <p:sp>
        <p:nvSpPr>
          <p:cNvPr id="4" name="TextBox 3"/>
          <p:cNvSpPr txBox="1"/>
          <p:nvPr/>
        </p:nvSpPr>
        <p:spPr>
          <a:xfrm>
            <a:off x="777240" y="1353312"/>
            <a:ext cx="10561320" cy="3888244"/>
          </a:xfrm>
          <a:prstGeom prst="rect">
            <a:avLst/>
          </a:prstGeom>
          <a:noFill/>
        </p:spPr>
        <p:txBody>
          <a:bodyPr wrap="square">
            <a:spAutoFit/>
          </a:bodyPr>
          <a:lstStyle/>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Évolution de l’accidentalité</a:t>
            </a:r>
          </a:p>
          <a:p>
            <a:pPr algn="ctr">
              <a:spcAft>
                <a:spcPts val="1000"/>
              </a:spcAft>
              <a:defRPr sz="1800">
                <a:solidFill>
                  <a:srgbClr val="2C312F"/>
                </a:solidFill>
              </a:defRPr>
            </a:pP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Concentration des accidents</a:t>
            </a:r>
          </a:p>
          <a:p>
            <a:pPr algn="ctr">
              <a:spcAft>
                <a:spcPts val="1000"/>
              </a:spcAft>
              <a:defRPr sz="1800">
                <a:solidFill>
                  <a:srgbClr val="2C312F"/>
                </a:solidFill>
              </a:defRPr>
            </a:pP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Facteurs et profils associés</a:t>
            </a:r>
          </a:p>
          <a:p>
            <a:pPr algn="ctr">
              <a:spcAft>
                <a:spcPts val="1000"/>
              </a:spcAft>
              <a:defRPr sz="1800">
                <a:solidFill>
                  <a:srgbClr val="2C312F"/>
                </a:solidFill>
              </a:defRPr>
            </a:pP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Conditions environnementales</a:t>
            </a:r>
          </a:p>
          <a:p>
            <a:pPr algn="ctr">
              <a:spcAft>
                <a:spcPts val="1000"/>
              </a:spcAft>
              <a:defRPr sz="1800">
                <a:solidFill>
                  <a:srgbClr val="2C312F"/>
                </a:solidFill>
              </a:defRPr>
            </a:pPr>
            <a:endParaRPr lang="fr-FR" sz="2000" dirty="0">
              <a:solidFill>
                <a:schemeClr val="accent1"/>
              </a:solidFill>
              <a:latin typeface="Times New Roman" panose="02020603050405020304" pitchFamily="18" charset="0"/>
              <a:cs typeface="Times New Roman" panose="02020603050405020304" pitchFamily="18" charset="0"/>
            </a:endParaRPr>
          </a:p>
          <a:p>
            <a:pPr marL="342900" indent="-342900" algn="ctr">
              <a:spcAft>
                <a:spcPts val="1000"/>
              </a:spcAft>
              <a:buFont typeface="Wingdings" panose="05000000000000000000" pitchFamily="2" charset="2"/>
              <a:buChar char="ü"/>
              <a:defRPr sz="1800">
                <a:solidFill>
                  <a:srgbClr val="2C312F"/>
                </a:solidFill>
              </a:defRPr>
            </a:pPr>
            <a:r>
              <a:rPr lang="fr-FR" sz="2000" dirty="0">
                <a:solidFill>
                  <a:schemeClr val="accent1"/>
                </a:solidFill>
                <a:latin typeface="Times New Roman" panose="02020603050405020304" pitchFamily="18" charset="0"/>
                <a:cs typeface="Times New Roman" panose="02020603050405020304" pitchFamily="18" charset="0"/>
              </a:rPr>
              <a:t>Modélisation et apport du projet</a:t>
            </a:r>
            <a:endParaRPr sz="2000"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0972800" y="6446520"/>
            <a:ext cx="457200" cy="182880"/>
          </a:xfrm>
          <a:prstGeom prst="rect">
            <a:avLst/>
          </a:prstGeom>
          <a:noFill/>
        </p:spPr>
        <p:txBody>
          <a:bodyPr wrap="none">
            <a:spAutoFit/>
          </a:bodyPr>
          <a:lstStyle/>
          <a:p>
            <a:pPr algn="r"/>
            <a:r>
              <a:rPr sz="900">
                <a:solidFill>
                  <a:srgbClr val="69706D"/>
                </a:solidFill>
              </a:rPr>
              <a:t>15</a:t>
            </a:r>
          </a:p>
        </p:txBody>
      </p:sp>
      <p:pic>
        <p:nvPicPr>
          <p:cNvPr id="7" name="Image 6">
            <a:extLst>
              <a:ext uri="{FF2B5EF4-FFF2-40B4-BE49-F238E27FC236}">
                <a16:creationId xmlns:a16="http://schemas.microsoft.com/office/drawing/2014/main" id="{00F5F4C3-DE62-58FA-4935-2A7869EF4DC9}"/>
              </a:ext>
            </a:extLst>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3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73526" y="1965960"/>
            <a:ext cx="6014467" cy="1446550"/>
          </a:xfrm>
          <a:prstGeom prst="rect">
            <a:avLst/>
          </a:prstGeom>
          <a:noFill/>
        </p:spPr>
        <p:txBody>
          <a:bodyPr wrap="none">
            <a:spAutoFit/>
          </a:bodyPr>
          <a:lstStyle/>
          <a:p>
            <a:pPr algn="ctr"/>
            <a:endParaRPr lang="fr-FR" sz="3400" b="1" dirty="0">
              <a:solidFill>
                <a:srgbClr val="FFFFFF"/>
              </a:solidFill>
            </a:endParaRPr>
          </a:p>
          <a:p>
            <a:pPr algn="ctr"/>
            <a:r>
              <a:rPr sz="3400" b="1" dirty="0">
                <a:solidFill>
                  <a:srgbClr val="FFFFFF"/>
                </a:solidFill>
              </a:rPr>
              <a:t>MERCI POUR VOTRE ATTENTION</a:t>
            </a:r>
          </a:p>
          <a:p>
            <a:pPr algn="ctr"/>
            <a:r>
              <a:rPr sz="2000" dirty="0">
                <a:solidFill>
                  <a:srgbClr val="DBEBE2"/>
                </a:solidFill>
              </a:rPr>
              <a:t>Questions et </a:t>
            </a:r>
            <a:r>
              <a:rPr sz="2000" dirty="0" err="1">
                <a:solidFill>
                  <a:srgbClr val="DBEBE2"/>
                </a:solidFill>
              </a:rPr>
              <a:t>échanges</a:t>
            </a:r>
            <a:r>
              <a:rPr sz="2000" dirty="0">
                <a:solidFill>
                  <a:srgbClr val="DBEBE2"/>
                </a:solidFill>
              </a:rPr>
              <a:t> avec le jury</a:t>
            </a:r>
          </a:p>
        </p:txBody>
      </p:sp>
      <p:pic>
        <p:nvPicPr>
          <p:cNvPr id="5" name="Image 4">
            <a:extLst>
              <a:ext uri="{FF2B5EF4-FFF2-40B4-BE49-F238E27FC236}">
                <a16:creationId xmlns:a16="http://schemas.microsoft.com/office/drawing/2014/main" id="{27F701CB-8C39-E945-C2EB-3489AA834397}"/>
              </a:ext>
            </a:extLst>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4287</TotalTime>
  <Words>2385</Words>
  <Application>Microsoft Office PowerPoint</Application>
  <PresentationFormat>Grand écran</PresentationFormat>
  <Paragraphs>177</Paragraphs>
  <Slides>13</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Aptos</vt:lpstr>
      <vt:lpstr>Arial</vt:lpstr>
      <vt:lpstr>Calibri</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keywords/>
  <dc:description>generated using python-pptx</dc:description>
  <cp:lastModifiedBy>Ibrahima Ciss</cp:lastModifiedBy>
  <cp:revision>79</cp:revision>
  <dcterms:created xsi:type="dcterms:W3CDTF">2013-01-27T09:14:16Z</dcterms:created>
  <dcterms:modified xsi:type="dcterms:W3CDTF">2026-09-09T21:24:14Z</dcterms:modified>
  <cp:category/>
</cp:coreProperties>
</file>